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10" r:id="rId1"/>
  </p:sldMasterIdLst>
  <p:notesMasterIdLst>
    <p:notesMasterId r:id="rId20"/>
  </p:notesMasterIdLst>
  <p:sldIdLst>
    <p:sldId id="404" r:id="rId2"/>
    <p:sldId id="415" r:id="rId3"/>
    <p:sldId id="257" r:id="rId4"/>
    <p:sldId id="409" r:id="rId5"/>
    <p:sldId id="410" r:id="rId6"/>
    <p:sldId id="405" r:id="rId7"/>
    <p:sldId id="258" r:id="rId8"/>
    <p:sldId id="411" r:id="rId9"/>
    <p:sldId id="412" r:id="rId10"/>
    <p:sldId id="413" r:id="rId11"/>
    <p:sldId id="414" r:id="rId12"/>
    <p:sldId id="406" r:id="rId13"/>
    <p:sldId id="407" r:id="rId14"/>
    <p:sldId id="416" r:id="rId15"/>
    <p:sldId id="417" r:id="rId16"/>
    <p:sldId id="285" r:id="rId17"/>
    <p:sldId id="321" r:id="rId18"/>
    <p:sldId id="28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4434" autoAdjust="0"/>
  </p:normalViewPr>
  <p:slideViewPr>
    <p:cSldViewPr snapToGrid="0">
      <p:cViewPr>
        <p:scale>
          <a:sx n="68" d="100"/>
          <a:sy n="68" d="100"/>
        </p:scale>
        <p:origin x="2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69EC8-AF1C-3A03-4559-1382EDDE3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D5BFB-75D7-B4B7-A581-9CCBB378276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C909A99E-ABFF-423D-FC1C-E912C984A19E}"/>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610099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2C04-BC66-786B-D434-1AE6A90FD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4B0C6-F08C-9350-B366-7F852B4034B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B233F9C-B84B-15CF-5B4F-9D8654215508}"/>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13784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646D-7B20-75BE-B36D-3D816700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C5B56-0FD8-878B-2DC9-5401EE156F63}"/>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E112C1C9-9CFD-B60A-90F6-AF19A4E63F0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817355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22590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837606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33405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C61B8BA-8C01-4062-BDEE-CF2683840E9A}"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225704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C61B8BA-8C01-4062-BDEE-CF2683840E9A}" type="datetimeFigureOut">
              <a:rPr lang="en-IN" smtClean="0"/>
              <a:t>13-03-2026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93680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C61B8BA-8C01-4062-BDEE-CF2683840E9A}" type="datetimeFigureOut">
              <a:rPr lang="en-IN" smtClean="0"/>
              <a:t>13-03-2026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796315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13-03-2026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579133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949709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183145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11427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52766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5156778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865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937838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218141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C61B8BA-8C01-4062-BDEE-CF2683840E9A}"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81250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C61B8BA-8C01-4062-BDEE-CF2683840E9A}" type="datetimeFigureOut">
              <a:rPr lang="en-IN" smtClean="0"/>
              <a:t>13-03-2026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336442994"/>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 id="2147483922" r:id="rId12"/>
    <p:sldLayoutId id="2147483923" r:id="rId13"/>
    <p:sldLayoutId id="2147483924" r:id="rId14"/>
    <p:sldLayoutId id="2147483925" r:id="rId15"/>
    <p:sldLayoutId id="214748392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png"/><Relationship Id="rId4" Type="http://schemas.openxmlformats.org/officeDocument/2006/relationships/oleObject" Target="../embeddings/oleObject1.bin"/><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52015" y="700261"/>
            <a:ext cx="1379220" cy="1379220"/>
          </a:xfrm>
          <a:prstGeom prst="rect">
            <a:avLst/>
          </a:prstGeom>
        </p:spPr>
      </p:pic>
      <p:sp>
        <p:nvSpPr>
          <p:cNvPr id="6" name="Title 5"/>
          <p:cNvSpPr>
            <a:spLocks noGrp="1"/>
          </p:cNvSpPr>
          <p:nvPr/>
        </p:nvSpPr>
        <p:spPr>
          <a:xfrm>
            <a:off x="1777365" y="481781"/>
            <a:ext cx="9271635" cy="13771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200" b="1" dirty="0">
              <a:latin typeface="Times New Roman" panose="02020603050405020304" pitchFamily="18" charset="0"/>
              <a:cs typeface="Times New Roman" panose="02020603050405020304" pitchFamily="18" charset="0"/>
              <a:sym typeface="+mn-ea"/>
            </a:endParaRPr>
          </a:p>
          <a:p>
            <a:pPr algn="ctr"/>
            <a:endParaRPr lang="en-US" sz="3200" b="1" dirty="0">
              <a:latin typeface="Times New Roman" panose="02020603050405020304" pitchFamily="18" charset="0"/>
              <a:cs typeface="Times New Roman" panose="02020603050405020304" pitchFamily="18" charset="0"/>
              <a:sym typeface="+mn-ea"/>
            </a:endParaRPr>
          </a:p>
          <a:p>
            <a:pPr algn="ctr"/>
            <a:r>
              <a:rPr lang="en-US" sz="3200" b="1" dirty="0">
                <a:latin typeface="Times New Roman" panose="02020603050405020304" pitchFamily="18" charset="0"/>
                <a:cs typeface="Times New Roman" panose="02020603050405020304" pitchFamily="18" charset="0"/>
                <a:sym typeface="+mn-ea"/>
              </a:rPr>
              <a:t>SANTHIRAM ENGINEERING COLLEGE NANDYAL (AUTONOMOUS)</a:t>
            </a:r>
            <a:endParaRPr lang="en-IN" sz="3600" dirty="0"/>
          </a:p>
          <a:p>
            <a:pPr algn="ctr"/>
            <a:r>
              <a:rPr lang="en-US" sz="3600" b="1" dirty="0">
                <a:latin typeface="Times New Roman" panose="02020603050405020304" pitchFamily="18" charset="0"/>
                <a:cs typeface="Times New Roman" panose="02020603050405020304" pitchFamily="18" charset="0"/>
                <a:sym typeface="+mn-ea"/>
              </a:rPr>
              <a:t/>
            </a:r>
            <a:br>
              <a:rPr lang="en-US" sz="3600" b="1" dirty="0">
                <a:latin typeface="Times New Roman" panose="02020603050405020304" pitchFamily="18" charset="0"/>
                <a:cs typeface="Times New Roman" panose="02020603050405020304" pitchFamily="18" charset="0"/>
                <a:sym typeface="+mn-ea"/>
              </a:rPr>
            </a:br>
            <a:endParaRPr lang="en-IN" sz="3600" b="1" dirty="0">
              <a:latin typeface="Times New Roman" panose="02020603050405020304" pitchFamily="18" charset="0"/>
              <a:cs typeface="Times New Roman" panose="02020603050405020304" pitchFamily="18" charset="0"/>
            </a:endParaRPr>
          </a:p>
        </p:txBody>
      </p:sp>
      <p:sp>
        <p:nvSpPr>
          <p:cNvPr id="8" name="Subtitle 7"/>
          <p:cNvSpPr>
            <a:spLocks noGrp="1"/>
          </p:cNvSpPr>
          <p:nvPr/>
        </p:nvSpPr>
        <p:spPr>
          <a:xfrm>
            <a:off x="714200" y="1654808"/>
            <a:ext cx="10670540" cy="47821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000" dirty="0">
                <a:solidFill>
                  <a:srgbClr val="FF0000"/>
                </a:solidFill>
              </a:rPr>
              <a:t>                   DEPARTMENT OF ELECTRONICS AND COMMUNICATION ENGINEERING</a:t>
            </a:r>
            <a:endParaRPr lang="en-IN" sz="2000" dirty="0"/>
          </a:p>
          <a:p>
            <a:pPr marL="0" indent="0" algn="ctr">
              <a:buNone/>
            </a:pPr>
            <a:r>
              <a:rPr lang="en-IN" sz="2400" dirty="0"/>
              <a:t>    BATCH NO : </a:t>
            </a:r>
            <a:r>
              <a:rPr lang="en-IN" sz="2400" b="1" dirty="0" smtClean="0"/>
              <a:t>18</a:t>
            </a:r>
            <a:endParaRPr lang="en-IN" sz="2400" b="1" dirty="0"/>
          </a:p>
          <a:p>
            <a:pPr marL="0" indent="0" algn="ctr">
              <a:buNone/>
            </a:pPr>
            <a:r>
              <a:rPr lang="en-US" b="1" dirty="0"/>
              <a:t>   </a:t>
            </a:r>
            <a:r>
              <a:rPr lang="en-US" sz="2400" dirty="0"/>
              <a:t>Enhancement of Underwater Images Using Homomorphic Filtering and Optimal Background Quadtree Search</a:t>
            </a:r>
            <a:endParaRPr lang="en-IN" sz="2400" dirty="0"/>
          </a:p>
          <a:p>
            <a:pPr marL="0" indent="0" algn="ctr">
              <a:buNone/>
            </a:pPr>
            <a:endParaRPr lang="en-US" sz="2000" b="1" dirty="0"/>
          </a:p>
          <a:p>
            <a:pPr marL="0" indent="0">
              <a:buNone/>
            </a:pPr>
            <a:r>
              <a:rPr lang="en-IN" altLang="en-US" sz="1800" dirty="0"/>
              <a:t> 	 </a:t>
            </a:r>
            <a:r>
              <a:rPr lang="en-IN" altLang="en-US" sz="1800" b="1" dirty="0"/>
              <a:t> </a:t>
            </a:r>
            <a:r>
              <a:rPr lang="en-US" sz="1800" b="1" u="sng" dirty="0"/>
              <a:t>Project Guide</a:t>
            </a:r>
            <a:r>
              <a:rPr lang="en-US" sz="1800" b="1" dirty="0"/>
              <a:t>:  </a:t>
            </a:r>
            <a:r>
              <a:rPr lang="en-US" sz="1800" dirty="0"/>
              <a:t>                                                         </a:t>
            </a:r>
            <a:r>
              <a:rPr lang="en-IN" sz="1800" b="1" u="sng" dirty="0" smtClean="0"/>
              <a:t>Project </a:t>
            </a:r>
            <a:r>
              <a:rPr lang="en-IN" sz="1800" b="1" u="sng" dirty="0"/>
              <a:t>Associates</a:t>
            </a:r>
            <a:r>
              <a:rPr lang="en-IN" sz="1800" b="1" dirty="0"/>
              <a:t>: </a:t>
            </a:r>
          </a:p>
          <a:p>
            <a:pPr marL="0" indent="0" algn="just">
              <a:buNone/>
            </a:pPr>
            <a:r>
              <a:rPr lang="en-IN" sz="1800" dirty="0" smtClean="0">
                <a:solidFill>
                  <a:schemeClr val="accent1">
                    <a:lumMod val="50000"/>
                  </a:schemeClr>
                </a:solidFill>
                <a:latin typeface="Times New Roman" panose="02020603050405020304" pitchFamily="18" charset="0"/>
                <a:cs typeface="Times New Roman" panose="02020603050405020304" pitchFamily="18" charset="0"/>
                <a:sym typeface="+mn-ea"/>
              </a:rPr>
              <a:t>  	</a:t>
            </a:r>
            <a:r>
              <a:rPr lang="en-IN" sz="1800" dirty="0" smtClean="0">
                <a:solidFill>
                  <a:schemeClr val="bg1">
                    <a:lumMod val="50000"/>
                  </a:schemeClr>
                </a:solidFill>
                <a:latin typeface="Times New Roman" panose="02020603050405020304" pitchFamily="18" charset="0"/>
                <a:cs typeface="Times New Roman" panose="02020603050405020304" pitchFamily="18" charset="0"/>
                <a:sym typeface="+mn-ea"/>
              </a:rPr>
              <a:t> </a:t>
            </a:r>
            <a:r>
              <a:rPr lang="en-IN" sz="1800" b="1" dirty="0" smtClean="0">
                <a:solidFill>
                  <a:srgbClr val="FF0000"/>
                </a:solidFill>
                <a:latin typeface="Times New Roman" panose="02020603050405020304" pitchFamily="18" charset="0"/>
                <a:cs typeface="Times New Roman" panose="02020603050405020304" pitchFamily="18" charset="0"/>
                <a:sym typeface="+mn-ea"/>
              </a:rPr>
              <a:t>Mr. </a:t>
            </a:r>
            <a:r>
              <a:rPr lang="en-IN" sz="1800" b="1" dirty="0" err="1" smtClean="0">
                <a:solidFill>
                  <a:srgbClr val="FF0000"/>
                </a:solidFill>
                <a:latin typeface="Times New Roman" panose="02020603050405020304" pitchFamily="18" charset="0"/>
                <a:cs typeface="Times New Roman" panose="02020603050405020304" pitchFamily="18" charset="0"/>
                <a:sym typeface="+mn-ea"/>
              </a:rPr>
              <a:t>S.Munawwar</a:t>
            </a:r>
            <a:r>
              <a:rPr lang="en-IN" sz="1800" dirty="0" smtClean="0">
                <a:solidFill>
                  <a:srgbClr val="FF0000"/>
                </a:solidFill>
              </a:rPr>
              <a:t> </a:t>
            </a:r>
            <a:r>
              <a:rPr lang="en-IN" sz="1800" dirty="0" smtClean="0"/>
              <a:t>                                                   </a:t>
            </a:r>
            <a:r>
              <a:rPr lang="en-IN" sz="1800" dirty="0" err="1" smtClean="0"/>
              <a:t>N.Divya</a:t>
            </a:r>
            <a:r>
              <a:rPr lang="en-IN" sz="1800" dirty="0" smtClean="0"/>
              <a:t> (23X55A0415)</a:t>
            </a:r>
          </a:p>
          <a:p>
            <a:pPr marL="0" indent="0" algn="just">
              <a:buNone/>
            </a:pPr>
            <a:r>
              <a:rPr lang="en-IN" sz="1800" dirty="0" smtClean="0"/>
              <a:t>   	 </a:t>
            </a:r>
            <a:r>
              <a:rPr lang="en-IN" sz="1800" dirty="0" smtClean="0">
                <a:solidFill>
                  <a:schemeClr val="tx1">
                    <a:lumMod val="95000"/>
                    <a:lumOff val="5000"/>
                  </a:schemeClr>
                </a:solidFill>
                <a:latin typeface="Times New Roman" panose="02020603050405020304" pitchFamily="18" charset="0"/>
                <a:cs typeface="Times New Roman" panose="02020603050405020304" pitchFamily="18" charset="0"/>
                <a:sym typeface="+mn-ea"/>
              </a:rPr>
              <a:t>M. Tech. (Ph. D).</a:t>
            </a:r>
            <a:r>
              <a:rPr lang="en-IN" sz="1800" dirty="0" smtClean="0">
                <a:solidFill>
                  <a:schemeClr val="tx1">
                    <a:lumMod val="95000"/>
                    <a:lumOff val="5000"/>
                  </a:schemeClr>
                </a:solidFill>
              </a:rPr>
              <a:t>   </a:t>
            </a:r>
            <a:r>
              <a:rPr lang="en-IN" sz="1800" dirty="0" smtClean="0"/>
              <a:t>                                                  S.B. </a:t>
            </a:r>
            <a:r>
              <a:rPr lang="en-IN" sz="1800" dirty="0" err="1" smtClean="0"/>
              <a:t>Fazila</a:t>
            </a:r>
            <a:r>
              <a:rPr lang="en-IN" sz="1800" dirty="0" smtClean="0"/>
              <a:t> </a:t>
            </a:r>
            <a:r>
              <a:rPr lang="en-IN" sz="1800" dirty="0" err="1" smtClean="0"/>
              <a:t>Parveen</a:t>
            </a:r>
            <a:r>
              <a:rPr lang="en-IN" sz="1800" dirty="0" smtClean="0"/>
              <a:t> (22X51A0478)    </a:t>
            </a:r>
          </a:p>
          <a:p>
            <a:pPr marL="0" indent="0" algn="just">
              <a:buNone/>
            </a:pPr>
            <a:r>
              <a:rPr lang="en-IN" sz="1800" dirty="0" smtClean="0"/>
              <a:t>  	 Associate professor			           </a:t>
            </a:r>
            <a:r>
              <a:rPr lang="en-IN" sz="1800" dirty="0" err="1" smtClean="0"/>
              <a:t>C.Charitha</a:t>
            </a:r>
            <a:r>
              <a:rPr lang="en-IN" sz="1800" dirty="0" smtClean="0"/>
              <a:t> (23X55A0404)</a:t>
            </a:r>
          </a:p>
          <a:p>
            <a:pPr marL="0" indent="0" algn="just">
              <a:buNone/>
            </a:pPr>
            <a:r>
              <a:rPr lang="en-IN" sz="1800" dirty="0" smtClean="0"/>
              <a:t>  	 Department of ECE                                                 </a:t>
            </a:r>
            <a:r>
              <a:rPr lang="en-IN" sz="1800" dirty="0" err="1" smtClean="0"/>
              <a:t>S.Athiya</a:t>
            </a:r>
            <a:r>
              <a:rPr lang="en-IN" sz="1800" dirty="0" smtClean="0"/>
              <a:t> (22X51A0477)     </a:t>
            </a:r>
          </a:p>
          <a:p>
            <a:pPr marL="0" indent="0" algn="just">
              <a:buNone/>
            </a:pPr>
            <a:r>
              <a:rPr lang="en-IN" sz="1800" dirty="0" smtClean="0"/>
              <a:t>						           </a:t>
            </a:r>
            <a:r>
              <a:rPr lang="en-IN" sz="1800" dirty="0" err="1" smtClean="0"/>
              <a:t>P.Susmitha</a:t>
            </a:r>
            <a:r>
              <a:rPr lang="en-IN" sz="1800" dirty="0" smtClean="0"/>
              <a:t> (22X51A0483)                                                                                     </a:t>
            </a:r>
          </a:p>
          <a:p>
            <a:pPr algn="just"/>
            <a:endParaRPr lang="en-I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27A74-43E3-288F-4C75-111DBB419B6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474547-289B-4174-A16A-F15F381539D2}"/>
              </a:ext>
            </a:extLst>
          </p:cNvPr>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itle 1">
            <a:extLst>
              <a:ext uri="{FF2B5EF4-FFF2-40B4-BE49-F238E27FC236}">
                <a16:creationId xmlns:a16="http://schemas.microsoft.com/office/drawing/2014/main" id="{4C9B5DEF-F5AB-6728-7DAC-A77EECD48E08}"/>
              </a:ext>
            </a:extLst>
          </p:cNvPr>
          <p:cNvSpPr>
            <a:spLocks noGrp="1"/>
          </p:cNvSpPr>
          <p:nvPr>
            <p:ph type="title"/>
          </p:nvPr>
        </p:nvSpPr>
        <p:spPr>
          <a:xfrm>
            <a:off x="3698969" y="370946"/>
            <a:ext cx="4625788" cy="605118"/>
          </a:xfrm>
        </p:spPr>
        <p:txBody>
          <a:bodyPr>
            <a:normAutofit fontScale="90000"/>
          </a:bodyPr>
          <a:lstStyle/>
          <a:p>
            <a:pPr algn="ctr"/>
            <a:r>
              <a:rPr lang="en-IN" b="1" u="sng" dirty="0">
                <a:latin typeface="Times New Roman" panose="02020603050405020304" pitchFamily="18" charset="0"/>
                <a:cs typeface="Times New Roman" panose="02020603050405020304" pitchFamily="18" charset="0"/>
              </a:rPr>
              <a:t>CONTENT</a:t>
            </a:r>
          </a:p>
        </p:txBody>
      </p:sp>
      <p:sp>
        <p:nvSpPr>
          <p:cNvPr id="3" name="Content Placeholder 2">
            <a:extLst>
              <a:ext uri="{FF2B5EF4-FFF2-40B4-BE49-F238E27FC236}">
                <a16:creationId xmlns:a16="http://schemas.microsoft.com/office/drawing/2014/main" id="{73C433A3-C475-3435-4BD9-851FF82015E4}"/>
              </a:ext>
            </a:extLst>
          </p:cNvPr>
          <p:cNvSpPr>
            <a:spLocks noGrp="1"/>
          </p:cNvSpPr>
          <p:nvPr>
            <p:ph idx="1"/>
          </p:nvPr>
        </p:nvSpPr>
        <p:spPr>
          <a:xfrm>
            <a:off x="951006" y="1296624"/>
            <a:ext cx="11456894" cy="4279039"/>
          </a:xfrm>
        </p:spPr>
        <p:txBody>
          <a:bodyPr>
            <a:noAutofit/>
          </a:bodyPr>
          <a:lstStyle/>
          <a:p>
            <a:pPr algn="just">
              <a:buFont typeface="Wingdings" panose="05000000000000000000" pitchFamily="2" charset="2"/>
              <a:buChar char="q"/>
            </a:pPr>
            <a:r>
              <a:rPr lang="en-US" sz="2400" dirty="0"/>
              <a:t>Abstract</a:t>
            </a:r>
          </a:p>
          <a:p>
            <a:pPr algn="just">
              <a:buFont typeface="Wingdings" panose="05000000000000000000" pitchFamily="2" charset="2"/>
              <a:buChar char="q"/>
            </a:pPr>
            <a:r>
              <a:rPr lang="en-US" sz="2400" dirty="0"/>
              <a:t>Introduction</a:t>
            </a:r>
          </a:p>
          <a:p>
            <a:pPr algn="just">
              <a:buFont typeface="Wingdings" panose="05000000000000000000" pitchFamily="2" charset="2"/>
              <a:buChar char="q"/>
            </a:pPr>
            <a:r>
              <a:rPr lang="en-US" sz="2400" dirty="0"/>
              <a:t>Problem Statement </a:t>
            </a:r>
          </a:p>
          <a:p>
            <a:pPr algn="just">
              <a:buFont typeface="Wingdings" panose="05000000000000000000" pitchFamily="2" charset="2"/>
              <a:buChar char="q"/>
            </a:pPr>
            <a:r>
              <a:rPr lang="en-US" sz="2400" dirty="0"/>
              <a:t>Objectives</a:t>
            </a:r>
          </a:p>
          <a:p>
            <a:pPr algn="just">
              <a:buFont typeface="Wingdings" panose="05000000000000000000" pitchFamily="2" charset="2"/>
              <a:buChar char="q"/>
            </a:pPr>
            <a:r>
              <a:rPr lang="en-US" sz="2400" dirty="0"/>
              <a:t>Proposed Method</a:t>
            </a:r>
          </a:p>
          <a:p>
            <a:pPr algn="just">
              <a:buFont typeface="Wingdings" panose="05000000000000000000" pitchFamily="2" charset="2"/>
              <a:buChar char="q"/>
            </a:pPr>
            <a:r>
              <a:rPr lang="en-US" sz="2400" dirty="0"/>
              <a:t>Flow Chart</a:t>
            </a:r>
          </a:p>
          <a:p>
            <a:pPr algn="just">
              <a:buFont typeface="Wingdings" panose="05000000000000000000" pitchFamily="2" charset="2"/>
              <a:buChar char="q"/>
            </a:pPr>
            <a:r>
              <a:rPr lang="en-US" sz="2400" dirty="0"/>
              <a:t>Advantages &amp; Disadvantages</a:t>
            </a:r>
          </a:p>
          <a:p>
            <a:pPr algn="just">
              <a:buFont typeface="Wingdings" panose="05000000000000000000" pitchFamily="2" charset="2"/>
              <a:buChar char="q"/>
            </a:pPr>
            <a:r>
              <a:rPr lang="en-US" sz="2400" dirty="0"/>
              <a:t>Result &amp; Conclusion</a:t>
            </a:r>
          </a:p>
          <a:p>
            <a:pPr algn="just">
              <a:buFont typeface="Wingdings" panose="05000000000000000000" pitchFamily="2" charset="2"/>
              <a:buChar char="q"/>
            </a:pPr>
            <a:r>
              <a:rPr lang="en-US" sz="2400" dirty="0"/>
              <a:t>Comparison of Under Water Image Enhancement</a:t>
            </a:r>
          </a:p>
          <a:p>
            <a:pPr algn="just">
              <a:buFont typeface="Wingdings" panose="05000000000000000000" pitchFamily="2" charset="2"/>
              <a:buChar char="q"/>
            </a:pPr>
            <a:r>
              <a:rPr lang="en-US" sz="2400" dirty="0"/>
              <a:t>References</a:t>
            </a:r>
          </a:p>
          <a:p>
            <a:endParaRPr lang="en-US" sz="3200" dirty="0"/>
          </a:p>
          <a:p>
            <a:endParaRPr lang="en-US" sz="3200" dirty="0"/>
          </a:p>
        </p:txBody>
      </p:sp>
    </p:spTree>
    <p:extLst>
      <p:ext uri="{BB962C8B-B14F-4D97-AF65-F5344CB8AC3E}">
        <p14:creationId xmlns:p14="http://schemas.microsoft.com/office/powerpoint/2010/main" val="241759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3463670" y="795627"/>
            <a:ext cx="4625788" cy="605118"/>
          </a:xfrm>
        </p:spPr>
        <p:txBody>
          <a:bodyPr>
            <a:normAutofit fontScale="90000"/>
          </a:bodyPr>
          <a:lstStyle/>
          <a:p>
            <a:pPr algn="ctr"/>
            <a:r>
              <a:rPr lang="en-IN" b="1" u="sng"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18382" y="1953484"/>
            <a:ext cx="11456894" cy="5571564"/>
          </a:xfrm>
        </p:spPr>
        <p:txBody>
          <a:bodyPr>
            <a:noAutofit/>
          </a:bodyPr>
          <a:lstStyle/>
          <a:p>
            <a:r>
              <a:rPr lang="en-US" sz="2400" dirty="0"/>
              <a:t>Underwater images suffer from color distortion, low contrast, and blurred details due to light absorption and scattering.</a:t>
            </a:r>
          </a:p>
          <a:p>
            <a:r>
              <a:rPr lang="en-US" sz="2400" dirty="0"/>
              <a:t>The proposed multi-stage framework performs adaptive color correction, homomorphic filtering for contrast enhancement, and fusion to produce clearer, sharper images.</a:t>
            </a:r>
          </a:p>
          <a:p>
            <a:r>
              <a:rPr lang="en-US" sz="2400" dirty="0"/>
              <a:t>Results show improved visual quality and up to threefold better underwater target detection accuracy.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38027-A41C-E79E-07EF-B42FE9C29FD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C17EC7-3DA6-E5B5-8DDA-AC471F0A4D63}"/>
              </a:ext>
            </a:extLst>
          </p:cNvPr>
          <p:cNvSpPr/>
          <p:nvPr/>
        </p:nvSpPr>
        <p:spPr>
          <a:xfrm>
            <a:off x="167554" y="284452"/>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itle 1">
            <a:extLst>
              <a:ext uri="{FF2B5EF4-FFF2-40B4-BE49-F238E27FC236}">
                <a16:creationId xmlns:a16="http://schemas.microsoft.com/office/drawing/2014/main" id="{2223FA58-1A4E-E8E7-E3A5-AD1C808CABFB}"/>
              </a:ext>
            </a:extLst>
          </p:cNvPr>
          <p:cNvSpPr>
            <a:spLocks noGrp="1"/>
          </p:cNvSpPr>
          <p:nvPr>
            <p:ph type="title"/>
          </p:nvPr>
        </p:nvSpPr>
        <p:spPr>
          <a:xfrm>
            <a:off x="3887015" y="494283"/>
            <a:ext cx="4625788" cy="605118"/>
          </a:xfrm>
        </p:spPr>
        <p:txBody>
          <a:bodyPr>
            <a:normAutofit fontScale="90000"/>
          </a:bodyPr>
          <a:lstStyle/>
          <a:p>
            <a:pPr algn="ctr"/>
            <a:r>
              <a:rPr lang="en-IN" sz="4400" b="1"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2FE7F60-511B-ACAF-FD7C-F070A87128AB}"/>
              </a:ext>
            </a:extLst>
          </p:cNvPr>
          <p:cNvSpPr>
            <a:spLocks noGrp="1"/>
          </p:cNvSpPr>
          <p:nvPr>
            <p:ph idx="1"/>
          </p:nvPr>
        </p:nvSpPr>
        <p:spPr>
          <a:xfrm>
            <a:off x="263644" y="1309231"/>
            <a:ext cx="11456894" cy="2539224"/>
          </a:xfrm>
        </p:spPr>
        <p:txBody>
          <a:bodyPr>
            <a:noAutofit/>
          </a:bodyPr>
          <a:lstStyle/>
          <a:p>
            <a:pPr marL="0" indent="0">
              <a:buNone/>
            </a:pPr>
            <a:r>
              <a:rPr lang="en-US" b="1" dirty="0">
                <a:solidFill>
                  <a:srgbClr val="FF0000"/>
                </a:solidFill>
              </a:rPr>
              <a:t>Challenges in Underwater Imaging : </a:t>
            </a:r>
          </a:p>
          <a:p>
            <a:r>
              <a:rPr lang="en-US" dirty="0"/>
              <a:t>Underwater optical imaging is widely used in marine exploration, biological observation, environmental monitoring, and robotic navigation due to its high spatial resolution and speed.</a:t>
            </a:r>
          </a:p>
          <a:p>
            <a:r>
              <a:rPr lang="en-US" dirty="0"/>
              <a:t>Suspended particles in water cause light scattering and absorption, leading to reduced visibility and low contrast.</a:t>
            </a:r>
          </a:p>
          <a:p>
            <a:r>
              <a:rPr lang="en-US" dirty="0"/>
              <a:t>Wavelength-dependent attenuation removes red tones first, resulting in blue/green color dominance.</a:t>
            </a:r>
          </a:p>
          <a:p>
            <a:r>
              <a:rPr lang="en-US" dirty="0"/>
              <a:t>These distortions degrade image quality and affect vision-based tasks such as inspection, tracking, mapping, and navigation.</a:t>
            </a:r>
          </a:p>
          <a:p>
            <a:r>
              <a:rPr lang="en-US" dirty="0"/>
              <a:t>Hence, effective underwater image enhancement is essential for reliable visual perception.</a:t>
            </a:r>
          </a:p>
          <a:p>
            <a:endParaRPr lang="en-US" dirty="0"/>
          </a:p>
        </p:txBody>
      </p:sp>
    </p:spTree>
    <p:extLst>
      <p:ext uri="{BB962C8B-B14F-4D97-AF65-F5344CB8AC3E}">
        <p14:creationId xmlns:p14="http://schemas.microsoft.com/office/powerpoint/2010/main" val="208585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6C127-36BA-48AA-E040-F9ABF3C30F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0780751-42F1-7CE8-7590-4E22C0F0CC9E}"/>
              </a:ext>
            </a:extLst>
          </p:cNvPr>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6EB723D7-9EC8-D8F2-A58A-80AE50BE906A}"/>
              </a:ext>
            </a:extLst>
          </p:cNvPr>
          <p:cNvSpPr>
            <a:spLocks noGrp="1"/>
          </p:cNvSpPr>
          <p:nvPr>
            <p:ph idx="1"/>
          </p:nvPr>
        </p:nvSpPr>
        <p:spPr>
          <a:xfrm>
            <a:off x="463643" y="992521"/>
            <a:ext cx="11456894" cy="1068246"/>
          </a:xfrm>
        </p:spPr>
        <p:txBody>
          <a:bodyPr>
            <a:noAutofit/>
          </a:bodyPr>
          <a:lstStyle/>
          <a:p>
            <a:pPr marL="0" indent="0">
              <a:buNone/>
            </a:pPr>
            <a:r>
              <a:rPr lang="en-US" b="1" dirty="0"/>
              <a:t>Existing Methods and Motivation</a:t>
            </a:r>
          </a:p>
          <a:p>
            <a:r>
              <a:rPr lang="en-US" sz="2000" b="1" dirty="0">
                <a:solidFill>
                  <a:srgbClr val="FF0000"/>
                </a:solidFill>
              </a:rPr>
              <a:t>Traditional methods:</a:t>
            </a:r>
            <a:r>
              <a:rPr lang="en-US" sz="2000" dirty="0">
                <a:solidFill>
                  <a:srgbClr val="FF0000"/>
                </a:solidFill>
              </a:rPr>
              <a:t> </a:t>
            </a:r>
            <a:r>
              <a:rPr lang="en-US" sz="2000" dirty="0"/>
              <a:t>Contrast enhancement, histogram equalization, white balancing, homomorphic filtering, </a:t>
            </a:r>
            <a:r>
              <a:rPr lang="en-US" sz="2000" dirty="0" err="1"/>
              <a:t>Retinex</a:t>
            </a:r>
            <a:r>
              <a:rPr lang="en-US" sz="2000" dirty="0"/>
              <a:t>-based models, and multi-scale fusion to improve illumination and details.</a:t>
            </a:r>
          </a:p>
          <a:p>
            <a:r>
              <a:rPr lang="en-US" sz="2000" b="1" dirty="0">
                <a:solidFill>
                  <a:srgbClr val="FF0000"/>
                </a:solidFill>
              </a:rPr>
              <a:t>Deep learning approaches:</a:t>
            </a:r>
            <a:r>
              <a:rPr lang="en-US" sz="2000" dirty="0">
                <a:solidFill>
                  <a:srgbClr val="FF0000"/>
                </a:solidFill>
              </a:rPr>
              <a:t> </a:t>
            </a:r>
            <a:r>
              <a:rPr lang="en-US" sz="2000" dirty="0"/>
              <a:t>CNNs, attention mechanisms, adversarial learning, and multi-stage networks for color restoration, texture enhancement, and noise reduction.</a:t>
            </a:r>
          </a:p>
          <a:p>
            <a:r>
              <a:rPr lang="en-US" sz="2000" b="1" dirty="0">
                <a:solidFill>
                  <a:srgbClr val="FF0000"/>
                </a:solidFill>
              </a:rPr>
              <a:t>Physical prior-based methods</a:t>
            </a:r>
            <a:r>
              <a:rPr lang="en-US" sz="2000" b="1" dirty="0"/>
              <a:t>:</a:t>
            </a:r>
            <a:r>
              <a:rPr lang="en-US" sz="2000" dirty="0"/>
              <a:t> Use optical models, wavelength correction, luminance fusion, and polarization techniques for restoration.</a:t>
            </a:r>
          </a:p>
          <a:p>
            <a:r>
              <a:rPr lang="en-US" sz="2000" dirty="0"/>
              <a:t>Limitations include dependency on large datasets, parameter tuning complexity, and reduced performance in challenging conditions.</a:t>
            </a:r>
          </a:p>
          <a:p>
            <a:r>
              <a:rPr lang="en-US" sz="2000" dirty="0"/>
              <a:t>Therefore, a new multi-stage enhancement framework is proposed to correct color imbalance, improve contrast, and restore structural details effectively.</a:t>
            </a:r>
          </a:p>
          <a:p>
            <a:endParaRPr lang="en-US" dirty="0"/>
          </a:p>
        </p:txBody>
      </p:sp>
      <p:sp>
        <p:nvSpPr>
          <p:cNvPr id="5" name="Rectangle 1">
            <a:extLst>
              <a:ext uri="{FF2B5EF4-FFF2-40B4-BE49-F238E27FC236}">
                <a16:creationId xmlns:a16="http://schemas.microsoft.com/office/drawing/2014/main" id="{4EDBB3E0-B0A4-5606-2069-D7080398805E}"/>
              </a:ext>
            </a:extLst>
          </p:cNvPr>
          <p:cNvSpPr>
            <a:spLocks noChangeArrowheads="1"/>
          </p:cNvSpPr>
          <p:nvPr/>
        </p:nvSpPr>
        <p:spPr bwMode="auto">
          <a:xfrm>
            <a:off x="564891" y="4957390"/>
            <a:ext cx="109024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p:txBody>
      </p:sp>
    </p:spTree>
    <p:extLst>
      <p:ext uri="{BB962C8B-B14F-4D97-AF65-F5344CB8AC3E}">
        <p14:creationId xmlns:p14="http://schemas.microsoft.com/office/powerpoint/2010/main" val="3997831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604" y="130628"/>
            <a:ext cx="11510037" cy="6540759"/>
          </a:xfrm>
          <a:ln>
            <a:solidFill>
              <a:schemeClr val="tx1"/>
            </a:solidFill>
          </a:ln>
        </p:spPr>
        <p:txBody>
          <a:bodyPr>
            <a:normAutofit/>
          </a:bodyPr>
          <a:lstStyle/>
          <a:p>
            <a:pPr marL="0" indent="0">
              <a:buNone/>
            </a:pPr>
            <a:endParaRPr lang="en-US" altLang="en-US" sz="2400" dirty="0"/>
          </a:p>
          <a:p>
            <a:pPr marL="0" indent="0" algn="ctr">
              <a:buNone/>
            </a:pPr>
            <a:r>
              <a:rPr lang="en-US" altLang="en-US" sz="3200" b="1" u="sng" dirty="0"/>
              <a:t>PROBLEM STATEMENT</a:t>
            </a:r>
          </a:p>
          <a:p>
            <a:pPr marL="0" indent="0" algn="l">
              <a:buNone/>
            </a:pPr>
            <a:endParaRPr lang="en-US" altLang="en-US" sz="2600" dirty="0">
              <a:latin typeface="Times New Roman" panose="02020603050405020304" pitchFamily="18" charset="0"/>
              <a:cs typeface="Times New Roman" panose="02020603050405020304" pitchFamily="18" charset="0"/>
              <a:sym typeface="+mn-ea"/>
            </a:endParaRPr>
          </a:p>
          <a:p>
            <a:pPr marL="0" indent="0" algn="l">
              <a:buNone/>
            </a:pPr>
            <a:endParaRPr lang="en-US" altLang="en-US" sz="2600" dirty="0">
              <a:latin typeface="Times New Roman" panose="02020603050405020304" pitchFamily="18" charset="0"/>
              <a:cs typeface="Times New Roman" panose="02020603050405020304" pitchFamily="18" charset="0"/>
              <a:sym typeface="+mn-ea"/>
            </a:endParaRPr>
          </a:p>
        </p:txBody>
      </p:sp>
      <p:sp>
        <p:nvSpPr>
          <p:cNvPr id="7" name="Rectangle 5">
            <a:extLst>
              <a:ext uri="{FF2B5EF4-FFF2-40B4-BE49-F238E27FC236}">
                <a16:creationId xmlns:a16="http://schemas.microsoft.com/office/drawing/2014/main" id="{DD5AF668-69CB-4FCF-C018-AABE23129519}"/>
              </a:ext>
            </a:extLst>
          </p:cNvPr>
          <p:cNvSpPr>
            <a:spLocks noChangeArrowheads="1"/>
          </p:cNvSpPr>
          <p:nvPr/>
        </p:nvSpPr>
        <p:spPr bwMode="auto">
          <a:xfrm>
            <a:off x="600709" y="1109634"/>
            <a:ext cx="10534016"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Underwater images usually suffer from low visibility, color distortion, and poor contrast due to light absorption and scattering in water.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attenuation of different wavelengths leads to loss of red color and dominance of blue/green tones, degrading the natural appearance of the scene.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These degradations reduce the performance of computer vision systems in tasks such as object detection, navigation, monitoring, and marine exploration.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Noise, haze effects, and reduced sharpness further limit the extraction of meaningful features from underwater images.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combined effect of these distortions results in unreliable visual perception in complex underwater environments.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Therefore, an efficient enhancement technique is required to restore color balance, improve contrast, and preserve important structural details.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u="sng"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438150" y="1619250"/>
            <a:ext cx="11315700" cy="4676775"/>
          </a:xfrm>
        </p:spPr>
        <p:txBody>
          <a:bodyPr>
            <a:normAutofit/>
          </a:bodyPr>
          <a:lstStyle/>
          <a:p>
            <a:pPr marL="0" indent="0" algn="just">
              <a:lnSpc>
                <a:spcPct val="150000"/>
              </a:lnSpc>
              <a:buNone/>
            </a:pPr>
            <a:r>
              <a:rPr lang="en-IN" sz="3000" dirty="0">
                <a:latin typeface="Times New Roman" panose="02020603050405020304" pitchFamily="18" charset="0"/>
                <a:cs typeface="Times New Roman" panose="02020603050405020304" pitchFamily="18" charset="0"/>
              </a:rPr>
              <a:t>The main objective of our project is:</a:t>
            </a:r>
          </a:p>
          <a:p>
            <a:r>
              <a:rPr lang="en-US" dirty="0">
                <a:latin typeface="Times New Roman" panose="02020603050405020304" pitchFamily="18" charset="0"/>
                <a:cs typeface="Times New Roman" panose="02020603050405020304" pitchFamily="18" charset="0"/>
              </a:rPr>
              <a:t>The main objectives of the proposed work are:</a:t>
            </a:r>
          </a:p>
          <a:p>
            <a:r>
              <a:rPr lang="en-US" dirty="0">
                <a:latin typeface="Times New Roman" panose="02020603050405020304" pitchFamily="18" charset="0"/>
                <a:cs typeface="Times New Roman" panose="02020603050405020304" pitchFamily="18" charset="0"/>
              </a:rPr>
              <a:t>To improve the visual quality of degraded underwater images.</a:t>
            </a:r>
          </a:p>
          <a:p>
            <a:r>
              <a:rPr lang="en-US" dirty="0">
                <a:latin typeface="Times New Roman" panose="02020603050405020304" pitchFamily="18" charset="0"/>
                <a:cs typeface="Times New Roman" panose="02020603050405020304" pitchFamily="18" charset="0"/>
              </a:rPr>
              <a:t>To correct color imbalance caused by wavelength-dependent light attenuation.</a:t>
            </a:r>
          </a:p>
          <a:p>
            <a:r>
              <a:rPr lang="en-US" dirty="0">
                <a:latin typeface="Times New Roman" panose="02020603050405020304" pitchFamily="18" charset="0"/>
                <a:cs typeface="Times New Roman" panose="02020603050405020304" pitchFamily="18" charset="0"/>
              </a:rPr>
              <a:t>To enhance image contrast and visibility using homomorphic filtering.</a:t>
            </a:r>
          </a:p>
          <a:p>
            <a:r>
              <a:rPr lang="en-US" dirty="0">
                <a:latin typeface="Times New Roman" panose="02020603050405020304" pitchFamily="18" charset="0"/>
                <a:cs typeface="Times New Roman" panose="02020603050405020304" pitchFamily="18" charset="0"/>
              </a:rPr>
              <a:t>To identify optimal background light regions using a quadtree search method.</a:t>
            </a:r>
          </a:p>
          <a:p>
            <a:r>
              <a:rPr lang="en-US" dirty="0">
                <a:latin typeface="Times New Roman" panose="02020603050405020304" pitchFamily="18" charset="0"/>
                <a:cs typeface="Times New Roman" panose="02020603050405020304" pitchFamily="18" charset="0"/>
              </a:rPr>
              <a:t>To preserve important structural details and edges in underwater images.</a:t>
            </a:r>
          </a:p>
          <a:p>
            <a:r>
              <a:rPr lang="en-US" dirty="0">
                <a:latin typeface="Times New Roman" panose="02020603050405020304" pitchFamily="18" charset="0"/>
                <a:cs typeface="Times New Roman" panose="02020603050405020304" pitchFamily="18" charset="0"/>
              </a:rPr>
              <a:t>To produce images with better clarity and realistic colors for computer vision application</a:t>
            </a: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2FC67-37E2-33F0-E07C-28EB4CB43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A716C-967E-64FC-4FD7-8F1792F860AD}"/>
              </a:ext>
            </a:extLst>
          </p:cNvPr>
          <p:cNvSpPr>
            <a:spLocks noGrp="1"/>
          </p:cNvSpPr>
          <p:nvPr>
            <p:ph type="title"/>
          </p:nvPr>
        </p:nvSpPr>
        <p:spPr>
          <a:xfrm>
            <a:off x="733980" y="242888"/>
            <a:ext cx="10427079" cy="609601"/>
          </a:xfrm>
        </p:spPr>
        <p:txBody>
          <a:bodyPr>
            <a:normAutofit fontScale="90000"/>
          </a:bodyPr>
          <a:lstStyle/>
          <a:p>
            <a:pPr algn="ctr"/>
            <a:r>
              <a:rPr lang="en-US" sz="3600" b="1" u="sng" dirty="0">
                <a:latin typeface="Times New Roman" panose="02020603050405020304" pitchFamily="18" charset="0"/>
                <a:cs typeface="Times New Roman" panose="02020603050405020304" pitchFamily="18" charset="0"/>
              </a:rPr>
              <a:t>PROPOSED METHOD</a:t>
            </a:r>
            <a:endParaRPr lang="en-IN" sz="36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C52DB6-E3C6-D45E-DB4D-DC6139E3B171}"/>
              </a:ext>
            </a:extLst>
          </p:cNvPr>
          <p:cNvSpPr>
            <a:spLocks noGrp="1"/>
          </p:cNvSpPr>
          <p:nvPr>
            <p:ph idx="1"/>
          </p:nvPr>
        </p:nvSpPr>
        <p:spPr>
          <a:xfrm>
            <a:off x="403438" y="771528"/>
            <a:ext cx="11658600" cy="5577980"/>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proposed method introduces a </a:t>
            </a:r>
            <a:r>
              <a:rPr lang="en-US" sz="1800" b="1" dirty="0">
                <a:latin typeface="Times New Roman" panose="02020603050405020304" pitchFamily="18" charset="0"/>
                <a:cs typeface="Times New Roman" panose="02020603050405020304" pitchFamily="18" charset="0"/>
              </a:rPr>
              <a:t>multi-stage underwater image enhancement framework</a:t>
            </a:r>
            <a:r>
              <a:rPr lang="en-US" sz="1800" dirty="0">
                <a:latin typeface="Times New Roman" panose="02020603050405020304" pitchFamily="18" charset="0"/>
                <a:cs typeface="Times New Roman" panose="02020603050405020304" pitchFamily="18" charset="0"/>
              </a:rPr>
              <a:t> that combines spatial and frequency-domain processing.</a:t>
            </a:r>
          </a:p>
          <a:p>
            <a:r>
              <a:rPr lang="en-US" sz="1800" b="1" dirty="0">
                <a:latin typeface="Times New Roman" panose="02020603050405020304" pitchFamily="18" charset="0"/>
                <a:cs typeface="Times New Roman" panose="02020603050405020304" pitchFamily="18" charset="0"/>
              </a:rPr>
              <a:t>Optimal Background Quadtree Search</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input image is divided into smaller regions using a quadtree structure to identify the most suitable background region for accurate illumination estimation.</a:t>
            </a:r>
          </a:p>
          <a:p>
            <a:r>
              <a:rPr lang="en-US" sz="1800" b="1" dirty="0">
                <a:latin typeface="Times New Roman" panose="02020603050405020304" pitchFamily="18" charset="0"/>
                <a:cs typeface="Times New Roman" panose="02020603050405020304" pitchFamily="18" charset="0"/>
              </a:rPr>
              <a:t>Color Recognition and Adaptive Compensation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RGB channels are analyzed to detect color imbalance, and adaptive compensation is applied to correct color distortion.</a:t>
            </a:r>
          </a:p>
          <a:p>
            <a:r>
              <a:rPr lang="en-US" sz="1800" b="1" dirty="0">
                <a:latin typeface="Times New Roman" panose="02020603050405020304" pitchFamily="18" charset="0"/>
                <a:cs typeface="Times New Roman" panose="02020603050405020304" pitchFamily="18" charset="0"/>
              </a:rPr>
              <a:t>Homomorphic Filtering</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 frequency-domain homomorphic filter is applied to suppress low-frequency illumination components and enhance high-frequency structural details</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Residual FFT–</a:t>
            </a:r>
            <a:r>
              <a:rPr lang="en-US" sz="1800" b="1" dirty="0" err="1">
                <a:latin typeface="Times New Roman" panose="02020603050405020304" pitchFamily="18" charset="0"/>
                <a:cs typeface="Times New Roman" panose="02020603050405020304" pitchFamily="18" charset="0"/>
              </a:rPr>
              <a:t>ReLU</a:t>
            </a:r>
            <a:r>
              <a:rPr lang="en-US" sz="1800" b="1" dirty="0">
                <a:latin typeface="Times New Roman" panose="02020603050405020304" pitchFamily="18" charset="0"/>
                <a:cs typeface="Times New Roman" panose="02020603050405020304" pitchFamily="18" charset="0"/>
              </a:rPr>
              <a:t> Processing</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Frequency-domain transformations are used to refine features and highlight important image structures.</a:t>
            </a:r>
          </a:p>
          <a:p>
            <a:r>
              <a:rPr lang="en-US" sz="1800" b="1" dirty="0">
                <a:latin typeface="Times New Roman" panose="02020603050405020304" pitchFamily="18" charset="0"/>
                <a:cs typeface="Times New Roman" panose="02020603050405020304" pitchFamily="18" charset="0"/>
              </a:rPr>
              <a:t>Channel Attention and Multi-stage Feature Refinement</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Important feature channels are emphasized while suppressing noise and irrelevant information.</a:t>
            </a:r>
          </a:p>
          <a:p>
            <a:r>
              <a:rPr lang="en-US" sz="1800" b="1" dirty="0">
                <a:latin typeface="Times New Roman" panose="02020603050405020304" pitchFamily="18" charset="0"/>
                <a:cs typeface="Times New Roman" panose="02020603050405020304" pitchFamily="18" charset="0"/>
              </a:rPr>
              <a:t>Image Reconstruction and Fusion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Finally, the enhanced features are combined to produce a high-quality underwater image with improved color and contrast.</a:t>
            </a:r>
          </a:p>
        </p:txBody>
      </p:sp>
      <p:sp>
        <p:nvSpPr>
          <p:cNvPr id="4" name="Rectangle 3">
            <a:extLst>
              <a:ext uri="{FF2B5EF4-FFF2-40B4-BE49-F238E27FC236}">
                <a16:creationId xmlns:a16="http://schemas.microsoft.com/office/drawing/2014/main" id="{69C0C4AC-7B14-C678-E0A5-BA02F1D78C75}"/>
              </a:ext>
            </a:extLst>
          </p:cNvPr>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065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74286-4021-15C3-2533-C3E2260703A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7181CE-A4B9-BFC4-3501-F9153E176599}"/>
              </a:ext>
            </a:extLst>
          </p:cNvPr>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34" name="Title 1">
            <a:extLst>
              <a:ext uri="{FF2B5EF4-FFF2-40B4-BE49-F238E27FC236}">
                <a16:creationId xmlns:a16="http://schemas.microsoft.com/office/drawing/2014/main" id="{916E53DB-CBF6-9B46-EBCC-D5688508DE04}"/>
              </a:ext>
            </a:extLst>
          </p:cNvPr>
          <p:cNvSpPr>
            <a:spLocks noGrp="1"/>
          </p:cNvSpPr>
          <p:nvPr>
            <p:ph type="title"/>
          </p:nvPr>
        </p:nvSpPr>
        <p:spPr>
          <a:xfrm>
            <a:off x="178271" y="138180"/>
            <a:ext cx="3872230" cy="963295"/>
          </a:xfrm>
        </p:spPr>
        <p:txBody>
          <a:bodyPr>
            <a:normAutofit/>
          </a:bodyPr>
          <a:lstStyle/>
          <a:p>
            <a:pPr algn="ctr"/>
            <a:r>
              <a:rPr lang="en-IN" sz="3600" b="1" u="sng" dirty="0">
                <a:latin typeface="Times New Roman" panose="02020603050405020304" pitchFamily="18" charset="0"/>
                <a:cs typeface="Times New Roman" panose="02020603050405020304" pitchFamily="18" charset="0"/>
              </a:rPr>
              <a:t>FLOW CHART :</a:t>
            </a:r>
          </a:p>
        </p:txBody>
      </p:sp>
      <p:pic>
        <p:nvPicPr>
          <p:cNvPr id="2" name="Picture 1">
            <a:extLst>
              <a:ext uri="{FF2B5EF4-FFF2-40B4-BE49-F238E27FC236}">
                <a16:creationId xmlns:a16="http://schemas.microsoft.com/office/drawing/2014/main" id="{F904BF79-90C5-0E4D-EBC7-1C81A38A189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1872" y="138180"/>
            <a:ext cx="6046236" cy="6270168"/>
          </a:xfrm>
          <a:prstGeom prst="rect">
            <a:avLst/>
          </a:prstGeom>
          <a:noFill/>
          <a:ln>
            <a:noFill/>
          </a:ln>
        </p:spPr>
      </p:pic>
    </p:spTree>
    <p:extLst>
      <p:ext uri="{BB962C8B-B14F-4D97-AF65-F5344CB8AC3E}">
        <p14:creationId xmlns:p14="http://schemas.microsoft.com/office/powerpoint/2010/main" val="106874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84C9-793D-4BED-DAAF-C05BF284B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4584C-7019-DF4C-DC23-9F0B68E7FDBA}"/>
              </a:ext>
            </a:extLst>
          </p:cNvPr>
          <p:cNvSpPr>
            <a:spLocks noGrp="1"/>
          </p:cNvSpPr>
          <p:nvPr>
            <p:ph type="title"/>
          </p:nvPr>
        </p:nvSpPr>
        <p:spPr>
          <a:xfrm>
            <a:off x="725078" y="0"/>
            <a:ext cx="10515600" cy="1065229"/>
          </a:xfrm>
        </p:spPr>
        <p:txBody>
          <a:bodyPr>
            <a:normAutofit fontScale="90000"/>
          </a:bodyPr>
          <a:lstStyle/>
          <a:p>
            <a:pPr algn="ctr"/>
            <a:r>
              <a:rPr lang="en-IN" sz="3600" b="1" u="sng" dirty="0" smtClean="0"/>
              <a:t/>
            </a:r>
            <a:br>
              <a:rPr lang="en-IN" sz="3600" b="1" u="sng" dirty="0" smtClean="0"/>
            </a:br>
            <a:r>
              <a:rPr lang="en-IN" sz="3600" b="1" u="sng" dirty="0" smtClean="0"/>
              <a:t>RESULT </a:t>
            </a:r>
            <a:r>
              <a:rPr lang="en-IN" sz="3600" b="1" u="sng" dirty="0"/>
              <a:t>&amp; CONCLUSION</a:t>
            </a:r>
          </a:p>
        </p:txBody>
      </p:sp>
      <p:sp>
        <p:nvSpPr>
          <p:cNvPr id="3" name="Content Placeholder 2">
            <a:extLst>
              <a:ext uri="{FF2B5EF4-FFF2-40B4-BE49-F238E27FC236}">
                <a16:creationId xmlns:a16="http://schemas.microsoft.com/office/drawing/2014/main" id="{D969A7F8-BCC5-D1A5-355A-EC258A4EEB5B}"/>
              </a:ext>
            </a:extLst>
          </p:cNvPr>
          <p:cNvSpPr>
            <a:spLocks noGrp="1"/>
          </p:cNvSpPr>
          <p:nvPr>
            <p:ph idx="1"/>
          </p:nvPr>
        </p:nvSpPr>
        <p:spPr>
          <a:xfrm>
            <a:off x="462566" y="1235122"/>
            <a:ext cx="11266868" cy="5067066"/>
          </a:xfrm>
        </p:spPr>
        <p:txBody>
          <a:bodyPr>
            <a:noAutofit/>
          </a:bodyPr>
          <a:lstStyle/>
          <a:p>
            <a:pPr algn="just">
              <a:lnSpc>
                <a:spcPct val="100000"/>
              </a:lnSpc>
            </a:pPr>
            <a:r>
              <a:rPr lang="en-IN" sz="2000" dirty="0">
                <a:latin typeface="Times New Roman" panose="02020603050405020304" pitchFamily="18" charset="0"/>
                <a:cs typeface="Times New Roman" panose="02020603050405020304" pitchFamily="18" charset="0"/>
              </a:rPr>
              <a:t>A hybrid image-processing pipeline has been developed through this work that is comprehensive and can process low-light RGB images. The pipeline performs the classical methods of spatial filtering and frequency-domain processing together with deep-learning-inspired operations. </a:t>
            </a:r>
          </a:p>
          <a:p>
            <a:pPr algn="just">
              <a:lnSpc>
                <a:spcPct val="100000"/>
              </a:lnSpc>
            </a:pPr>
            <a:r>
              <a:rPr lang="en-IN" sz="2000" dirty="0">
                <a:latin typeface="Times New Roman" panose="02020603050405020304" pitchFamily="18" charset="0"/>
                <a:cs typeface="Times New Roman" panose="02020603050405020304" pitchFamily="18" charset="0"/>
              </a:rPr>
              <a:t>The system utilizes a combination of blur-based smoothing, Gaussian denoising, and Laplacian edge extraction with iterative transformations of FFT-</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 for the purpose of noise suppression while the other way around for boosting the salient structural features. </a:t>
            </a:r>
          </a:p>
          <a:p>
            <a:pPr algn="just">
              <a:lnSpc>
                <a:spcPct val="100000"/>
              </a:lnSpc>
            </a:pPr>
            <a:r>
              <a:rPr lang="en-IN" sz="2000" dirty="0">
                <a:latin typeface="Times New Roman" panose="02020603050405020304" pitchFamily="18" charset="0"/>
                <a:cs typeface="Times New Roman" panose="02020603050405020304" pitchFamily="18" charset="0"/>
              </a:rPr>
              <a:t>The feature representation is further refined by the use of max-pooling, batch normalization, and channel-attention modules, thus enabling robust enhancement even when the illumination is severely degraded. The last stage of bicubic interpolation reconstructs a high-resolution output where transitions are smooth and visual clarity is improved.</a:t>
            </a:r>
          </a:p>
          <a:p>
            <a:pPr algn="just">
              <a:lnSpc>
                <a:spcPct val="100000"/>
              </a:lnSpc>
            </a:pPr>
            <a:r>
              <a:rPr lang="en-IN" sz="2000" dirty="0">
                <a:latin typeface="Times New Roman" panose="02020603050405020304" pitchFamily="18" charset="0"/>
                <a:cs typeface="Times New Roman" panose="02020603050405020304" pitchFamily="18" charset="0"/>
              </a:rPr>
              <a:t>The experiments conducted proved that gradually through the stages the pipeline has been proposed to be able to contrast, sharpness, and detail preservation improvement, in addition, it has been outperforming conventional single-stage enhancement techniques inseparably by utilizing the complementary strengths of both spatial and frequency-domain. </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7322438-7974-BAE5-5B60-BB49E0EB88A3}"/>
              </a:ext>
            </a:extLst>
          </p:cNvPr>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90609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EA984-140F-8415-7452-E66CD5A9A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CA04D-A8E4-CD88-3B7F-9483E0CD22D4}"/>
              </a:ext>
            </a:extLst>
          </p:cNvPr>
          <p:cNvSpPr>
            <a:spLocks noGrp="1"/>
          </p:cNvSpPr>
          <p:nvPr>
            <p:ph type="title"/>
          </p:nvPr>
        </p:nvSpPr>
        <p:spPr>
          <a:xfrm>
            <a:off x="838200" y="228600"/>
            <a:ext cx="10515600" cy="1325563"/>
          </a:xfrm>
        </p:spPr>
        <p:txBody>
          <a:bodyPr>
            <a:normAutofit/>
          </a:bodyPr>
          <a:lstStyle/>
          <a:p>
            <a:pPr algn="ctr"/>
            <a:r>
              <a:rPr lang="en-US" sz="3600" b="1" u="sng" dirty="0"/>
              <a:t>Comparison of Underwater Image Enhancement Methods</a:t>
            </a:r>
            <a:r>
              <a:rPr lang="en-IN" sz="3600" b="1" u="sng" dirty="0"/>
              <a:t> </a:t>
            </a:r>
          </a:p>
        </p:txBody>
      </p:sp>
      <p:sp>
        <p:nvSpPr>
          <p:cNvPr id="5" name="Rectangle 1">
            <a:extLst>
              <a:ext uri="{FF2B5EF4-FFF2-40B4-BE49-F238E27FC236}">
                <a16:creationId xmlns:a16="http://schemas.microsoft.com/office/drawing/2014/main" id="{11AD2FF2-2FC4-DD0E-B383-6B8CB6901BCC}"/>
              </a:ext>
            </a:extLst>
          </p:cNvPr>
          <p:cNvSpPr>
            <a:spLocks noGrp="1" noChangeArrowheads="1"/>
          </p:cNvSpPr>
          <p:nvPr>
            <p:ph idx="1"/>
          </p:nvPr>
        </p:nvSpPr>
        <p:spPr bwMode="auto">
          <a:xfrm>
            <a:off x="491148" y="1726646"/>
            <a:ext cx="1120970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to traditional pixel-based methods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framework provides more adaptive color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compensation and better structural detail preservation, as it utilizes quadtree-based background estimation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instead of global intensity adjustments.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to deep learning approaches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method does not require large-scale training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datasets or ground-truth images, making it more practical and computationally efficient for real-time        underwater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to physics-based methods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technique avoids complex parameter tuning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strict model assumptions while still effectively compensating for wavelength attenuation and uneven       illumination.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Experimental evaluation on public underwater datasets demonstrates that the proposed method achieves</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superior contrast improvement, more natural color restoration, and enhanced feature clarity,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leading to improved performance in downstream tasks such as underwater target detection.</a:t>
            </a:r>
          </a:p>
        </p:txBody>
      </p:sp>
      <p:sp>
        <p:nvSpPr>
          <p:cNvPr id="4" name="Rectangle 3">
            <a:extLst>
              <a:ext uri="{FF2B5EF4-FFF2-40B4-BE49-F238E27FC236}">
                <a16:creationId xmlns:a16="http://schemas.microsoft.com/office/drawing/2014/main" id="{F236F67E-F8D1-6539-A98E-33C8CACEACB2}"/>
              </a:ext>
            </a:extLst>
          </p:cNvPr>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6437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u="sng" dirty="0" smtClean="0">
                <a:ln>
                  <a:solidFill>
                    <a:schemeClr val="tx1">
                      <a:lumMod val="65000"/>
                      <a:lumOff val="35000"/>
                    </a:schemeClr>
                  </a:solidFill>
                </a:ln>
                <a:sym typeface="+mn-ea"/>
              </a:rPr>
              <a:t> IMAGES FOR </a:t>
            </a:r>
            <a:r>
              <a:rPr lang="en-IN" altLang="en-US" u="sng" dirty="0" smtClean="0">
                <a:ln>
                  <a:solidFill>
                    <a:schemeClr val="tx1">
                      <a:lumMod val="65000"/>
                      <a:lumOff val="35000"/>
                    </a:schemeClr>
                  </a:solidFill>
                </a:ln>
                <a:sym typeface="+mn-ea"/>
              </a:rPr>
              <a:t>RESULT </a:t>
            </a:r>
            <a:r>
              <a:rPr lang="en-IN" altLang="en-US" u="sng" dirty="0">
                <a:ln>
                  <a:solidFill>
                    <a:schemeClr val="tx1">
                      <a:lumMod val="65000"/>
                      <a:lumOff val="35000"/>
                    </a:schemeClr>
                  </a:solidFill>
                </a:ln>
                <a:sym typeface="+mn-ea"/>
              </a:rPr>
              <a:t>GENERATION </a:t>
            </a:r>
            <a:endParaRPr lang="en-US" dirty="0"/>
          </a:p>
        </p:txBody>
      </p:sp>
      <p:pic>
        <p:nvPicPr>
          <p:cNvPr id="12" name="Content Placeholder 11">
            <a:extLst>
              <a:ext uri="{FF2B5EF4-FFF2-40B4-BE49-F238E27FC236}">
                <a16:creationId xmlns:a16="http://schemas.microsoft.com/office/drawing/2014/main" id="{2251336F-D7A8-BF5E-E6E8-BDD1F6504CC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60575" y="1828800"/>
            <a:ext cx="3246071" cy="1830070"/>
          </a:xfrm>
          <a:prstGeom prst="rect">
            <a:avLst/>
          </a:prstGeom>
          <a:noFill/>
          <a:ln>
            <a:noFill/>
          </a:ln>
        </p:spPr>
      </p:pic>
      <p:pic>
        <p:nvPicPr>
          <p:cNvPr id="13" name="Picture 12">
            <a:extLst>
              <a:ext uri="{FF2B5EF4-FFF2-40B4-BE49-F238E27FC236}">
                <a16:creationId xmlns:a16="http://schemas.microsoft.com/office/drawing/2014/main" id="{D0AB485A-B1C3-F21F-2F80-B05E8B5FFDA9}"/>
              </a:ext>
            </a:extLst>
          </p:cNvPr>
          <p:cNvPicPr>
            <a:picLocks noChangeAspect="1"/>
          </p:cNvPicPr>
          <p:nvPr/>
        </p:nvPicPr>
        <p:blipFill>
          <a:blip r:embed="rId3"/>
          <a:stretch>
            <a:fillRect/>
          </a:stretch>
        </p:blipFill>
        <p:spPr>
          <a:xfrm>
            <a:off x="5873261" y="1828800"/>
            <a:ext cx="3075354" cy="1830070"/>
          </a:xfrm>
          <a:prstGeom prst="rect">
            <a:avLst/>
          </a:prstGeom>
        </p:spPr>
      </p:pic>
      <p:pic>
        <p:nvPicPr>
          <p:cNvPr id="14" name="Picture 13">
            <a:extLst>
              <a:ext uri="{FF2B5EF4-FFF2-40B4-BE49-F238E27FC236}">
                <a16:creationId xmlns:a16="http://schemas.microsoft.com/office/drawing/2014/main" id="{50493D2F-B1A5-B9C7-FCF3-351653AA795A}"/>
              </a:ext>
            </a:extLst>
          </p:cNvPr>
          <p:cNvPicPr>
            <a:picLocks noChangeAspect="1"/>
          </p:cNvPicPr>
          <p:nvPr/>
        </p:nvPicPr>
        <p:blipFill>
          <a:blip r:embed="rId4"/>
          <a:stretch>
            <a:fillRect/>
          </a:stretch>
        </p:blipFill>
        <p:spPr>
          <a:xfrm>
            <a:off x="4250225" y="4149970"/>
            <a:ext cx="3246071" cy="20867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4012-51E8-584D-99AA-6FF6CBADE9A4}"/>
              </a:ext>
            </a:extLst>
          </p:cNvPr>
          <p:cNvSpPr>
            <a:spLocks noGrp="1"/>
          </p:cNvSpPr>
          <p:nvPr>
            <p:ph type="title"/>
          </p:nvPr>
        </p:nvSpPr>
        <p:spPr>
          <a:xfrm>
            <a:off x="1024127" y="585216"/>
            <a:ext cx="10904015" cy="1499616"/>
          </a:xfrm>
        </p:spPr>
        <p:txBody>
          <a:bodyPr>
            <a:normAutofit/>
          </a:bodyPr>
          <a:lstStyle/>
          <a:p>
            <a:r>
              <a:rPr lang="en-IN" b="1" dirty="0" smtClean="0"/>
              <a:t>Output images </a:t>
            </a:r>
            <a:endParaRPr lang="en-IN" b="1" dirty="0"/>
          </a:p>
        </p:txBody>
      </p:sp>
      <p:pic>
        <p:nvPicPr>
          <p:cNvPr id="5" name="Picture 4">
            <a:extLst>
              <a:ext uri="{FF2B5EF4-FFF2-40B4-BE49-F238E27FC236}">
                <a16:creationId xmlns:a16="http://schemas.microsoft.com/office/drawing/2014/main" id="{B70FE0B3-669E-A234-E522-6E4F0129DA29}"/>
              </a:ext>
            </a:extLst>
          </p:cNvPr>
          <p:cNvPicPr>
            <a:picLocks noChangeAspect="1"/>
          </p:cNvPicPr>
          <p:nvPr/>
        </p:nvPicPr>
        <p:blipFill>
          <a:blip r:embed="rId3"/>
          <a:stretch>
            <a:fillRect/>
          </a:stretch>
        </p:blipFill>
        <p:spPr>
          <a:xfrm>
            <a:off x="2125758" y="3838143"/>
            <a:ext cx="2877405" cy="1914769"/>
          </a:xfrm>
          <a:prstGeom prst="rect">
            <a:avLst/>
          </a:prstGeom>
        </p:spPr>
      </p:pic>
      <p:sp>
        <p:nvSpPr>
          <p:cNvPr id="6" name="Rectangle 2">
            <a:extLst>
              <a:ext uri="{FF2B5EF4-FFF2-40B4-BE49-F238E27FC236}">
                <a16:creationId xmlns:a16="http://schemas.microsoft.com/office/drawing/2014/main" id="{D503901A-51AC-A6D7-BF84-1C4E2B42E0F2}"/>
              </a:ext>
            </a:extLst>
          </p:cNvPr>
          <p:cNvSpPr>
            <a:spLocks noChangeArrowheads="1"/>
          </p:cNvSpPr>
          <p:nvPr/>
        </p:nvSpPr>
        <p:spPr bwMode="auto">
          <a:xfrm>
            <a:off x="3612266" y="1526430"/>
            <a:ext cx="1780627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75AC3958-B6E9-4427-BE17-AD095216528B}"/>
              </a:ext>
            </a:extLst>
          </p:cNvPr>
          <p:cNvGraphicFramePr>
            <a:graphicFrameLocks noChangeAspect="1"/>
          </p:cNvGraphicFramePr>
          <p:nvPr>
            <p:extLst>
              <p:ext uri="{D42A27DB-BD31-4B8C-83A1-F6EECF244321}">
                <p14:modId xmlns:p14="http://schemas.microsoft.com/office/powerpoint/2010/main" val="2639826515"/>
              </p:ext>
            </p:extLst>
          </p:nvPr>
        </p:nvGraphicFramePr>
        <p:xfrm>
          <a:off x="6493734" y="1418492"/>
          <a:ext cx="2536466" cy="1914768"/>
        </p:xfrm>
        <a:graphic>
          <a:graphicData uri="http://schemas.openxmlformats.org/presentationml/2006/ole">
            <mc:AlternateContent xmlns:mc="http://schemas.openxmlformats.org/markup-compatibility/2006">
              <mc:Choice xmlns:v="urn:schemas-microsoft-com:vml" Requires="v">
                <p:oleObj spid="_x0000_s1068" name="Bitmap Image" r:id="rId4" imgW="1724266" imgH="1333333" progId="Paint.Picture">
                  <p:embed/>
                </p:oleObj>
              </mc:Choice>
              <mc:Fallback>
                <p:oleObj name="Bitmap Image" r:id="rId4" imgW="1724266" imgH="1333333" progId="Paint.Picture">
                  <p:embed/>
                  <p:pic>
                    <p:nvPicPr>
                      <p:cNvPr id="9" name="Object 8">
                        <a:extLst>
                          <a:ext uri="{FF2B5EF4-FFF2-40B4-BE49-F238E27FC236}">
                            <a16:creationId xmlns:a16="http://schemas.microsoft.com/office/drawing/2014/main" id="{A79DB2EF-E327-630E-383F-DA592A5C19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3734" y="1418492"/>
                        <a:ext cx="2536466" cy="1914768"/>
                      </a:xfrm>
                      <a:prstGeom prst="rect">
                        <a:avLst/>
                      </a:prstGeom>
                      <a:noFill/>
                    </p:spPr>
                  </p:pic>
                </p:oleObj>
              </mc:Fallback>
            </mc:AlternateContent>
          </a:graphicData>
        </a:graphic>
      </p:graphicFrame>
      <p:sp>
        <p:nvSpPr>
          <p:cNvPr id="8" name="Rectangle 4">
            <a:extLst>
              <a:ext uri="{FF2B5EF4-FFF2-40B4-BE49-F238E27FC236}">
                <a16:creationId xmlns:a16="http://schemas.microsoft.com/office/drawing/2014/main" id="{082672CE-F6D6-75ED-03DB-D63DAFD3479F}"/>
              </a:ext>
            </a:extLst>
          </p:cNvPr>
          <p:cNvSpPr>
            <a:spLocks noChangeArrowheads="1"/>
          </p:cNvSpPr>
          <p:nvPr/>
        </p:nvSpPr>
        <p:spPr bwMode="auto">
          <a:xfrm>
            <a:off x="3766433" y="429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508037FC-80D6-749B-54CE-87323C40024F}"/>
              </a:ext>
            </a:extLst>
          </p:cNvPr>
          <p:cNvGraphicFramePr>
            <a:graphicFrameLocks noChangeAspect="1"/>
          </p:cNvGraphicFramePr>
          <p:nvPr>
            <p:extLst>
              <p:ext uri="{D42A27DB-BD31-4B8C-83A1-F6EECF244321}">
                <p14:modId xmlns:p14="http://schemas.microsoft.com/office/powerpoint/2010/main" val="2526142855"/>
              </p:ext>
            </p:extLst>
          </p:nvPr>
        </p:nvGraphicFramePr>
        <p:xfrm>
          <a:off x="2125758" y="1418493"/>
          <a:ext cx="2813537" cy="1914768"/>
        </p:xfrm>
        <a:graphic>
          <a:graphicData uri="http://schemas.openxmlformats.org/presentationml/2006/ole">
            <mc:AlternateContent xmlns:mc="http://schemas.openxmlformats.org/markup-compatibility/2006">
              <mc:Choice xmlns:v="urn:schemas-microsoft-com:vml" Requires="v">
                <p:oleObj spid="_x0000_s1069" name="Bitmap Image" r:id="rId6" imgW="1733333" imgH="1333333" progId="Paint.Picture">
                  <p:embed/>
                </p:oleObj>
              </mc:Choice>
              <mc:Fallback>
                <p:oleObj name="Bitmap Image" r:id="rId6" imgW="1733333" imgH="1333333" progId="Paint.Picture">
                  <p:embed/>
                  <p:pic>
                    <p:nvPicPr>
                      <p:cNvPr id="11" name="Object 10">
                        <a:extLst>
                          <a:ext uri="{FF2B5EF4-FFF2-40B4-BE49-F238E27FC236}">
                            <a16:creationId xmlns:a16="http://schemas.microsoft.com/office/drawing/2014/main" id="{426DDF83-979C-E04D-FA81-69388071CA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5758" y="1418493"/>
                        <a:ext cx="2813537" cy="1914768"/>
                      </a:xfrm>
                      <a:prstGeom prst="rect">
                        <a:avLst/>
                      </a:prstGeom>
                      <a:noFill/>
                    </p:spPr>
                  </p:pic>
                </p:oleObj>
              </mc:Fallback>
            </mc:AlternateContent>
          </a:graphicData>
        </a:graphic>
      </p:graphicFrame>
      <p:sp>
        <p:nvSpPr>
          <p:cNvPr id="10" name="Rectangle 6">
            <a:extLst>
              <a:ext uri="{FF2B5EF4-FFF2-40B4-BE49-F238E27FC236}">
                <a16:creationId xmlns:a16="http://schemas.microsoft.com/office/drawing/2014/main" id="{7FD93BE6-CAB0-7645-4176-9DA3DF6E7124}"/>
              </a:ext>
            </a:extLst>
          </p:cNvPr>
          <p:cNvSpPr>
            <a:spLocks noChangeArrowheads="1"/>
          </p:cNvSpPr>
          <p:nvPr/>
        </p:nvSpPr>
        <p:spPr bwMode="auto">
          <a:xfrm>
            <a:off x="2750313" y="4028232"/>
            <a:ext cx="175544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11" name="Object 10">
            <a:extLst>
              <a:ext uri="{FF2B5EF4-FFF2-40B4-BE49-F238E27FC236}">
                <a16:creationId xmlns:a16="http://schemas.microsoft.com/office/drawing/2014/main" id="{012F08D6-4763-4BC8-4DFE-AFA72C188464}"/>
              </a:ext>
            </a:extLst>
          </p:cNvPr>
          <p:cNvGraphicFramePr>
            <a:graphicFrameLocks noChangeAspect="1"/>
          </p:cNvGraphicFramePr>
          <p:nvPr>
            <p:extLst>
              <p:ext uri="{D42A27DB-BD31-4B8C-83A1-F6EECF244321}">
                <p14:modId xmlns:p14="http://schemas.microsoft.com/office/powerpoint/2010/main" val="1960174500"/>
              </p:ext>
            </p:extLst>
          </p:nvPr>
        </p:nvGraphicFramePr>
        <p:xfrm>
          <a:off x="6512849" y="3838143"/>
          <a:ext cx="2480024" cy="1914770"/>
        </p:xfrm>
        <a:graphic>
          <a:graphicData uri="http://schemas.openxmlformats.org/presentationml/2006/ole">
            <mc:AlternateContent xmlns:mc="http://schemas.openxmlformats.org/markup-compatibility/2006">
              <mc:Choice xmlns:v="urn:schemas-microsoft-com:vml" Requires="v">
                <p:oleObj spid="_x0000_s1070" name="Bitmap Image" r:id="rId8" imgW="1714739" imgH="1305107" progId="Paint.Picture">
                  <p:embed/>
                </p:oleObj>
              </mc:Choice>
              <mc:Fallback>
                <p:oleObj name="Bitmap Image" r:id="rId8" imgW="1714739" imgH="1305107" progId="Paint.Picture">
                  <p:embed/>
                  <p:pic>
                    <p:nvPicPr>
                      <p:cNvPr id="13" name="Object 12">
                        <a:extLst>
                          <a:ext uri="{FF2B5EF4-FFF2-40B4-BE49-F238E27FC236}">
                            <a16:creationId xmlns:a16="http://schemas.microsoft.com/office/drawing/2014/main" id="{2A019C9D-1A8A-18AD-C743-27BD9579DB5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12849" y="3838143"/>
                        <a:ext cx="2480024" cy="1914770"/>
                      </a:xfrm>
                      <a:prstGeom prst="rect">
                        <a:avLst/>
                      </a:prstGeom>
                      <a:noFill/>
                    </p:spPr>
                  </p:pic>
                </p:oleObj>
              </mc:Fallback>
            </mc:AlternateContent>
          </a:graphicData>
        </a:graphic>
      </p:graphicFrame>
    </p:spTree>
    <p:extLst>
      <p:ext uri="{BB962C8B-B14F-4D97-AF65-F5344CB8AC3E}">
        <p14:creationId xmlns:p14="http://schemas.microsoft.com/office/powerpoint/2010/main" val="2173592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4033-9D0C-1504-8148-D1E91C9D4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35EBA-65E0-3138-A0BB-3C6DC04D4D28}"/>
              </a:ext>
            </a:extLst>
          </p:cNvPr>
          <p:cNvSpPr>
            <a:spLocks noGrp="1"/>
          </p:cNvSpPr>
          <p:nvPr>
            <p:ph type="title"/>
          </p:nvPr>
        </p:nvSpPr>
        <p:spPr>
          <a:xfrm>
            <a:off x="696235" y="-119058"/>
            <a:ext cx="10515600" cy="1690688"/>
          </a:xfrm>
        </p:spPr>
        <p:txBody>
          <a:bodyPr>
            <a:normAutofit fontScale="90000"/>
          </a:bodyPr>
          <a:lstStyle/>
          <a:p>
            <a:pPr algn="ctr"/>
            <a:r>
              <a:rPr lang="en-US" b="1" u="sng" dirty="0" smtClean="0">
                <a:latin typeface="Times New Roman" panose="02020603050405020304" pitchFamily="18" charset="0"/>
                <a:cs typeface="Times New Roman" panose="02020603050405020304" pitchFamily="18" charset="0"/>
              </a:rPr>
              <a:t/>
            </a:r>
            <a:br>
              <a:rPr lang="en-US" b="1" u="sng" dirty="0" smtClean="0">
                <a:latin typeface="Times New Roman" panose="02020603050405020304" pitchFamily="18" charset="0"/>
                <a:cs typeface="Times New Roman" panose="02020603050405020304" pitchFamily="18" charset="0"/>
              </a:rPr>
            </a:br>
            <a:r>
              <a:rPr lang="en-US" b="1" u="sng" dirty="0" smtClean="0">
                <a:latin typeface="Times New Roman" panose="02020603050405020304" pitchFamily="18" charset="0"/>
                <a:cs typeface="Times New Roman" panose="02020603050405020304" pitchFamily="18" charset="0"/>
              </a:rPr>
              <a:t>Advantages</a:t>
            </a:r>
            <a:r>
              <a:rPr lang="en-US" b="1" u="sng" dirty="0" smtClean="0">
                <a:latin typeface="Times New Roman" panose="02020603050405020304" pitchFamily="18" charset="0"/>
                <a:cs typeface="Times New Roman" panose="02020603050405020304" pitchFamily="18" charset="0"/>
              </a:rPr>
              <a:t/>
            </a:r>
            <a:br>
              <a:rPr lang="en-US" b="1" u="sng" dirty="0" smtClean="0">
                <a:latin typeface="Times New Roman" panose="02020603050405020304" pitchFamily="18" charset="0"/>
                <a:cs typeface="Times New Roman" panose="02020603050405020304" pitchFamily="18" charset="0"/>
              </a:rPr>
            </a:br>
            <a:endParaRPr lang="en-IN" b="1" u="sng"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70752232-2F36-6A4D-9A65-756B309FDB8E}"/>
              </a:ext>
            </a:extLst>
          </p:cNvPr>
          <p:cNvSpPr>
            <a:spLocks noGrp="1" noChangeArrowheads="1"/>
          </p:cNvSpPr>
          <p:nvPr>
            <p:ph idx="1"/>
          </p:nvPr>
        </p:nvSpPr>
        <p:spPr bwMode="auto">
          <a:xfrm>
            <a:off x="758988" y="1211372"/>
            <a:ext cx="10515600" cy="502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latin typeface="Times New Roman" panose="02020603050405020304" pitchFamily="18" charset="0"/>
                <a:cs typeface="Times New Roman" panose="02020603050405020304" pitchFamily="18" charset="0"/>
              </a:rPr>
              <a:t>Improves color balance by compensating wavelength-dependent color loss.</a:t>
            </a:r>
          </a:p>
          <a:p>
            <a:r>
              <a:rPr lang="en-US" sz="2800" dirty="0">
                <a:latin typeface="Times New Roman" panose="02020603050405020304" pitchFamily="18" charset="0"/>
                <a:cs typeface="Times New Roman" panose="02020603050405020304" pitchFamily="18" charset="0"/>
              </a:rPr>
              <a:t>Enhances contrast and visibility in low-light underwater scenes.</a:t>
            </a:r>
          </a:p>
          <a:p>
            <a:r>
              <a:rPr lang="en-US" sz="2800" dirty="0">
                <a:latin typeface="Times New Roman" panose="02020603050405020304" pitchFamily="18" charset="0"/>
                <a:cs typeface="Times New Roman" panose="02020603050405020304" pitchFamily="18" charset="0"/>
              </a:rPr>
              <a:t>Preserves fine structural details and edges in the image.</a:t>
            </a:r>
          </a:p>
          <a:p>
            <a:r>
              <a:rPr lang="en-US" sz="2800" dirty="0">
                <a:latin typeface="Times New Roman" panose="02020603050405020304" pitchFamily="18" charset="0"/>
                <a:cs typeface="Times New Roman" panose="02020603050405020304" pitchFamily="18" charset="0"/>
              </a:rPr>
              <a:t>Reduces noise and haze effects caused by underwater scattering.</a:t>
            </a:r>
          </a:p>
          <a:p>
            <a:r>
              <a:rPr lang="en-US" sz="2800" dirty="0">
                <a:latin typeface="Times New Roman" panose="02020603050405020304" pitchFamily="18" charset="0"/>
                <a:cs typeface="Times New Roman" panose="02020603050405020304" pitchFamily="18" charset="0"/>
              </a:rPr>
              <a:t>Produces more natural and visually pleasing images.</a:t>
            </a:r>
          </a:p>
          <a:p>
            <a:r>
              <a:rPr lang="en-US" sz="2800" dirty="0">
                <a:latin typeface="Times New Roman" panose="02020603050405020304" pitchFamily="18" charset="0"/>
                <a:cs typeface="Times New Roman" panose="02020603050405020304" pitchFamily="18" charset="0"/>
              </a:rPr>
              <a:t>Improves feature extraction accuracy for underwater object detection.</a:t>
            </a:r>
          </a:p>
          <a:p>
            <a:r>
              <a:rPr lang="en-US" sz="2800" dirty="0">
                <a:latin typeface="Times New Roman" panose="02020603050405020304" pitchFamily="18" charset="0"/>
                <a:cs typeface="Times New Roman" panose="02020603050405020304" pitchFamily="18" charset="0"/>
              </a:rPr>
              <a:t>Combines spatial-domain and frequency-domain processing, making the system more robust.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19FB5F9-B138-5100-96CF-D98C7C31DA4F}"/>
              </a:ext>
            </a:extLst>
          </p:cNvPr>
          <p:cNvSpPr/>
          <p:nvPr/>
        </p:nvSpPr>
        <p:spPr>
          <a:xfrm>
            <a:off x="187488" y="325369"/>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90778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FCAB-DBA3-E87E-9C4F-3EE8425AF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D140A-CB9B-7E70-041D-CFDFA3789BCB}"/>
              </a:ext>
            </a:extLst>
          </p:cNvPr>
          <p:cNvSpPr>
            <a:spLocks noGrp="1"/>
          </p:cNvSpPr>
          <p:nvPr>
            <p:ph type="title"/>
          </p:nvPr>
        </p:nvSpPr>
        <p:spPr>
          <a:xfrm>
            <a:off x="838200" y="170364"/>
            <a:ext cx="10515600" cy="1325563"/>
          </a:xfrm>
        </p:spPr>
        <p:txBody>
          <a:bodyPr>
            <a:normAutofit/>
          </a:bodyPr>
          <a:lstStyle/>
          <a:p>
            <a:pPr algn="ctr"/>
            <a:r>
              <a:rPr lang="en-IN" sz="4000" b="1" u="sng" dirty="0">
                <a:latin typeface="Times New Roman" panose="02020603050405020304" pitchFamily="18" charset="0"/>
                <a:cs typeface="Times New Roman" panose="02020603050405020304" pitchFamily="18" charset="0"/>
              </a:rPr>
              <a:t>DISADVANTAGES</a:t>
            </a:r>
          </a:p>
        </p:txBody>
      </p:sp>
      <p:sp>
        <p:nvSpPr>
          <p:cNvPr id="3" name="Content Placeholder 2">
            <a:extLst>
              <a:ext uri="{FF2B5EF4-FFF2-40B4-BE49-F238E27FC236}">
                <a16:creationId xmlns:a16="http://schemas.microsoft.com/office/drawing/2014/main" id="{E486BDEE-89C9-4A34-02B5-C1F880F5AE08}"/>
              </a:ext>
            </a:extLst>
          </p:cNvPr>
          <p:cNvSpPr>
            <a:spLocks noGrp="1"/>
          </p:cNvSpPr>
          <p:nvPr>
            <p:ph idx="1"/>
          </p:nvPr>
        </p:nvSpPr>
        <p:spPr>
          <a:xfrm>
            <a:off x="996287" y="1423402"/>
            <a:ext cx="10699348" cy="4800264"/>
          </a:xfrm>
        </p:spPr>
        <p:txBody>
          <a:bodyPr>
            <a:noAutofit/>
          </a:bodyPr>
          <a:lstStyle/>
          <a:p>
            <a:pPr marL="0" indent="0">
              <a:buNone/>
            </a:pPr>
            <a:r>
              <a:rPr lang="en-US" sz="2400" dirty="0" smtClean="0">
                <a:latin typeface="Times New Roman" panose="02020603050405020304" pitchFamily="18" charset="0"/>
                <a:cs typeface="Times New Roman" panose="02020603050405020304" pitchFamily="18" charset="0"/>
              </a:rPr>
              <a:t>  Existing </a:t>
            </a:r>
            <a:r>
              <a:rPr lang="en-US" sz="2400" dirty="0">
                <a:latin typeface="Times New Roman" panose="02020603050405020304" pitchFamily="18" charset="0"/>
                <a:cs typeface="Times New Roman" panose="02020603050405020304" pitchFamily="18" charset="0"/>
              </a:rPr>
              <a:t>underwater image enhancement techniques have several limitations:</a:t>
            </a:r>
          </a:p>
          <a:p>
            <a:r>
              <a:rPr lang="en-US" sz="2400" dirty="0">
                <a:latin typeface="Times New Roman" panose="02020603050405020304" pitchFamily="18" charset="0"/>
                <a:cs typeface="Times New Roman" panose="02020603050405020304" pitchFamily="18" charset="0"/>
              </a:rPr>
              <a:t>Traditional pixel-based methods often lead to over-enhancement or loss of fine details.</a:t>
            </a:r>
          </a:p>
          <a:p>
            <a:r>
              <a:rPr lang="en-US" sz="2400" dirty="0">
                <a:latin typeface="Times New Roman" panose="02020603050405020304" pitchFamily="18" charset="0"/>
                <a:cs typeface="Times New Roman" panose="02020603050405020304" pitchFamily="18" charset="0"/>
              </a:rPr>
              <a:t>Some techniques create artifacts such as halos and noise amplification.</a:t>
            </a:r>
          </a:p>
          <a:p>
            <a:r>
              <a:rPr lang="en-US" sz="2400" dirty="0">
                <a:latin typeface="Times New Roman" panose="02020603050405020304" pitchFamily="18" charset="0"/>
                <a:cs typeface="Times New Roman" panose="02020603050405020304" pitchFamily="18" charset="0"/>
              </a:rPr>
              <a:t>Deep learning approaches require large datasets, which are limited for underwater environments.</a:t>
            </a:r>
          </a:p>
          <a:p>
            <a:r>
              <a:rPr lang="en-US" sz="2400" dirty="0">
                <a:latin typeface="Times New Roman" panose="02020603050405020304" pitchFamily="18" charset="0"/>
                <a:cs typeface="Times New Roman" panose="02020603050405020304" pitchFamily="18" charset="0"/>
              </a:rPr>
              <a:t>Physical model-based methods require accurate environmental parameters, which are difficult to estimate in real underwater conditions.</a:t>
            </a:r>
          </a:p>
          <a:p>
            <a:r>
              <a:rPr lang="en-US" sz="2400" dirty="0">
                <a:latin typeface="Times New Roman" panose="02020603050405020304" pitchFamily="18" charset="0"/>
                <a:cs typeface="Times New Roman" panose="02020603050405020304" pitchFamily="18" charset="0"/>
              </a:rPr>
              <a:t>Many methods fail to simultaneously correct color distortion and improve contrast effectively.</a:t>
            </a:r>
          </a:p>
        </p:txBody>
      </p:sp>
      <p:sp>
        <p:nvSpPr>
          <p:cNvPr id="4" name="Rectangle 3">
            <a:extLst>
              <a:ext uri="{FF2B5EF4-FFF2-40B4-BE49-F238E27FC236}">
                <a16:creationId xmlns:a16="http://schemas.microsoft.com/office/drawing/2014/main" id="{9B4DFC2B-AEA0-4029-CA8D-388ACB038336}"/>
              </a:ext>
            </a:extLst>
          </p:cNvPr>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25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IN" b="1" u="sng" dirty="0"/>
              <a:t>REFERENCES</a:t>
            </a:r>
          </a:p>
        </p:txBody>
      </p:sp>
      <p:sp>
        <p:nvSpPr>
          <p:cNvPr id="3" name="Content Placeholder 2"/>
          <p:cNvSpPr>
            <a:spLocks noGrp="1"/>
          </p:cNvSpPr>
          <p:nvPr>
            <p:ph idx="1"/>
          </p:nvPr>
        </p:nvSpPr>
        <p:spPr>
          <a:xfrm>
            <a:off x="515155" y="1629570"/>
            <a:ext cx="11228231" cy="4706836"/>
          </a:xfrm>
        </p:spPr>
        <p:txBody>
          <a:bodyPr>
            <a:noAutofit/>
          </a:bodyPr>
          <a:lstStyle/>
          <a:p>
            <a:r>
              <a:rPr lang="en-IN" sz="1800" dirty="0"/>
              <a:t>[1] D. Xiang et al., “Attenuated </a:t>
            </a:r>
            <a:r>
              <a:rPr lang="en-IN" sz="1800" dirty="0" err="1"/>
              <a:t>color</a:t>
            </a:r>
            <a:r>
              <a:rPr lang="en-IN" sz="1800" dirty="0"/>
              <a:t> channel adaptive correction and bilateral weight fusion for underwater image enhancement,” Opt. Lasers Eng., vol. 184, p. 108575, 2025.</a:t>
            </a:r>
          </a:p>
          <a:p>
            <a:r>
              <a:rPr lang="en-IN" sz="1800" dirty="0"/>
              <a:t>[2] B. Li et al., “Cascaded frameworks in underwater optical image restoration,” Inf. Fusion, vol. 117, p. 102809, 2025.</a:t>
            </a:r>
          </a:p>
          <a:p>
            <a:r>
              <a:rPr lang="en-IN" sz="1800" dirty="0"/>
              <a:t>[3] L. Hong et al., “CCM-Net: </a:t>
            </a:r>
            <a:r>
              <a:rPr lang="en-IN" sz="1800" dirty="0" err="1"/>
              <a:t>color</a:t>
            </a:r>
            <a:r>
              <a:rPr lang="en-IN" sz="1800" dirty="0"/>
              <a:t> compensation and coordinate attention guided underwater image enhancement with multi-scale feature aggregation,” Opt. Lasers Eng., vol. 184, p. 108590, 2025.</a:t>
            </a:r>
          </a:p>
          <a:p>
            <a:r>
              <a:rPr lang="en-IN" sz="1800" dirty="0"/>
              <a:t>[4] W. Zhang et al., “Underwater image enhancement via weighted wavelet visual perception fusion,” IEEE Trans. Circuits Syst. Video Technol., vol. 34, no. 4, pp. 2469–2483, 2024.</a:t>
            </a:r>
          </a:p>
          <a:p>
            <a:r>
              <a:rPr lang="en-IN" sz="1800" dirty="0"/>
              <a:t>E. Zhang, X. Li, Y. Huang, S. Xu, J. Tang, and H. Hu, “Underwater image enhancement via frequency and spatial domains fusion,” Optics and Lasers </a:t>
            </a:r>
          </a:p>
          <a:p>
            <a:r>
              <a:rPr lang="en-IN" sz="1800" dirty="0">
                <a:latin typeface="Times New Roman" panose="02020603050405020304" pitchFamily="18" charset="0"/>
                <a:cs typeface="Times New Roman" panose="02020603050405020304" pitchFamily="18" charset="0"/>
              </a:rPr>
              <a:t>in Engineering, vol. 186, 108826, 2025,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10.1016/j.optlaseng.2025.108826..</a:t>
            </a:r>
          </a:p>
          <a:p>
            <a:r>
              <a:rPr lang="en-IN" sz="1800" dirty="0">
                <a:latin typeface="Times New Roman" panose="02020603050405020304" pitchFamily="18" charset="0"/>
                <a:cs typeface="Times New Roman" panose="02020603050405020304" pitchFamily="18" charset="0"/>
              </a:rPr>
              <a:t>[6] A. K. Mishra et al., “Fusion of multiscale gradient domain enhancement and gamma correction for underwater image/video enhancement,” Opt. Lasers Eng., vol. 178, p. 108154, 2024.</a:t>
            </a:r>
          </a:p>
          <a:p>
            <a:r>
              <a:rPr lang="en-IN" sz="1800" dirty="0">
                <a:latin typeface="Times New Roman" panose="02020603050405020304" pitchFamily="18" charset="0"/>
                <a:cs typeface="Times New Roman" panose="02020603050405020304" pitchFamily="18" charset="0"/>
              </a:rPr>
              <a:t>[7] C. Wang et al., “Rethinking underwater image restoration based on circularly polarized light,” Photonics, vol. 11, no. 8, 2024.</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913" y="520859"/>
            <a:ext cx="11202473" cy="4723263"/>
          </a:xfrm>
        </p:spPr>
        <p:txBody>
          <a:bodyPr>
            <a:noAutofit/>
          </a:bodyPr>
          <a:lstStyle/>
          <a:p>
            <a:r>
              <a:rPr lang="en-IN" sz="2000" dirty="0">
                <a:latin typeface="Times New Roman" panose="02020603050405020304" pitchFamily="18" charset="0"/>
                <a:cs typeface="Times New Roman" panose="02020603050405020304" pitchFamily="18" charset="0"/>
              </a:rPr>
              <a:t>[8] H. Hu et al., “Enhancing underwater image via colour-cast correction and luminance fusion,” IEEE J. Ocean. Eng., vol. 49, no. 1, pp. 15–29, 2024.</a:t>
            </a:r>
          </a:p>
          <a:p>
            <a:r>
              <a:rPr lang="en-IN" sz="2000" dirty="0">
                <a:latin typeface="Times New Roman" panose="02020603050405020304" pitchFamily="18" charset="0"/>
                <a:cs typeface="Times New Roman" panose="02020603050405020304" pitchFamily="18" charset="0"/>
              </a:rPr>
              <a:t>[9] J. Deng et al., “Real-time underwater polarization imaging without relying on background,” Opt. Lasers Eng., vol. 169, p. 107721, 2023.</a:t>
            </a:r>
          </a:p>
          <a:p>
            <a:r>
              <a:rPr lang="en-IN" sz="2000" dirty="0">
                <a:latin typeface="Times New Roman" panose="02020603050405020304" pitchFamily="18" charset="0"/>
                <a:cs typeface="Times New Roman" panose="02020603050405020304" pitchFamily="18" charset="0"/>
              </a:rPr>
              <a:t>[10] W. D. Zhang et al., “Underwater image enhancement via piecewise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correction and dual prior optimized contrast enhancement,” IEEE Signal Process. Lett., vol. 30, pp. 229–233, 2023</a:t>
            </a:r>
          </a:p>
          <a:p>
            <a:r>
              <a:rPr lang="en-IN" sz="1800" dirty="0">
                <a:latin typeface="Times New Roman" panose="02020603050405020304" pitchFamily="18" charset="0"/>
                <a:cs typeface="Times New Roman" panose="02020603050405020304" pitchFamily="18" charset="0"/>
              </a:rPr>
              <a:t>[11] S. Munawwar and P. V. G. K. Rao, “Medical Image Fusion based on Multi-scale Decomposition using Hybrid Deep Learning Network Model,” </a:t>
            </a:r>
            <a:r>
              <a:rPr lang="en-IN" sz="1800" dirty="0" err="1">
                <a:latin typeface="Times New Roman" panose="02020603050405020304" pitchFamily="18" charset="0"/>
                <a:cs typeface="Times New Roman" panose="02020603050405020304" pitchFamily="18" charset="0"/>
              </a:rPr>
              <a:t>Comput</a:t>
            </a:r>
            <a:r>
              <a:rPr lang="en-IN" sz="1800" dirty="0">
                <a:latin typeface="Times New Roman" panose="02020603050405020304" pitchFamily="18" charset="0"/>
                <a:cs typeface="Times New Roman" panose="02020603050405020304" pitchFamily="18" charset="0"/>
              </a:rPr>
              <a:t>. Methods </a:t>
            </a:r>
            <a:r>
              <a:rPr lang="en-IN" sz="1800" dirty="0" err="1">
                <a:latin typeface="Times New Roman" panose="02020603050405020304" pitchFamily="18" charset="0"/>
                <a:cs typeface="Times New Roman" panose="02020603050405020304" pitchFamily="18" charset="0"/>
              </a:rPr>
              <a:t>Biomech</a:t>
            </a:r>
            <a:r>
              <a:rPr lang="en-IN" sz="1800" dirty="0">
                <a:latin typeface="Times New Roman" panose="02020603050405020304" pitchFamily="18" charset="0"/>
                <a:cs typeface="Times New Roman" panose="02020603050405020304" pitchFamily="18" charset="0"/>
              </a:rPr>
              <a:t>. Biomed. Eng.: Imaging Vis., 2023, doi:10.1080/21681163.2023.2215877.</a:t>
            </a:r>
          </a:p>
          <a:p>
            <a:r>
              <a:rPr lang="en-IN" sz="1800" dirty="0">
                <a:latin typeface="Times New Roman" panose="02020603050405020304" pitchFamily="18" charset="0"/>
                <a:cs typeface="Times New Roman" panose="02020603050405020304" pitchFamily="18" charset="0"/>
              </a:rPr>
              <a:t>[12] D. Liu et al., “Underwater image restoration via background light estimation and depth map optimization,” Opt. Express, vol. 30, no. 16, pp. 29099–29116, 2022.</a:t>
            </a:r>
          </a:p>
          <a:p>
            <a:r>
              <a:rPr lang="en-IN" sz="1800" dirty="0">
                <a:latin typeface="Times New Roman" panose="02020603050405020304" pitchFamily="18" charset="0"/>
                <a:cs typeface="Times New Roman" panose="02020603050405020304" pitchFamily="18" charset="0"/>
              </a:rPr>
              <a:t>[13] J. Y. Chiang and Y.-C. Chen, “Underwater image enhancement by wavelength compensation and dehazing,” IEEE Trans. Image Process., pp. 1756–1769, 2022 (latest reprint/republished).</a:t>
            </a:r>
          </a:p>
          <a:p>
            <a:r>
              <a:rPr lang="en-IN" sz="1800" dirty="0">
                <a:latin typeface="Times New Roman" panose="02020603050405020304" pitchFamily="18" charset="0"/>
                <a:cs typeface="Times New Roman" panose="02020603050405020304" pitchFamily="18" charset="0"/>
              </a:rPr>
              <a:t>[14] W. Zhang, L. Dong, and W. Xu, “</a:t>
            </a:r>
            <a:r>
              <a:rPr lang="en-IN" sz="1800" dirty="0" err="1">
                <a:latin typeface="Times New Roman" panose="02020603050405020304" pitchFamily="18" charset="0"/>
                <a:cs typeface="Times New Roman" panose="02020603050405020304" pitchFamily="18" charset="0"/>
              </a:rPr>
              <a:t>Retinex</a:t>
            </a:r>
            <a:r>
              <a:rPr lang="en-IN" sz="1800" dirty="0">
                <a:latin typeface="Times New Roman" panose="02020603050405020304" pitchFamily="18" charset="0"/>
                <a:cs typeface="Times New Roman" panose="02020603050405020304" pitchFamily="18" charset="0"/>
              </a:rPr>
              <a:t>-inspired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correction and detail-preserved fusion for underwater image enhancement,” </a:t>
            </a:r>
            <a:r>
              <a:rPr lang="en-IN" sz="1800" dirty="0" err="1">
                <a:latin typeface="Times New Roman" panose="02020603050405020304" pitchFamily="18" charset="0"/>
                <a:cs typeface="Times New Roman" panose="02020603050405020304" pitchFamily="18" charset="0"/>
              </a:rPr>
              <a:t>Comput</a:t>
            </a:r>
            <a:r>
              <a:rPr lang="en-IN" sz="1800" dirty="0">
                <a:latin typeface="Times New Roman" panose="02020603050405020304" pitchFamily="18" charset="0"/>
                <a:cs typeface="Times New Roman" panose="02020603050405020304" pitchFamily="18" charset="0"/>
              </a:rPr>
              <a:t>. Electron. Agric., vol. 192, p. 106585, 2022.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731"/>
            <a:ext cx="10515600" cy="1325563"/>
          </a:xfrm>
        </p:spPr>
        <p:txBody>
          <a:bodyPr>
            <a:normAutofit/>
          </a:bodyPr>
          <a:lstStyle/>
          <a:p>
            <a:pPr algn="ctr"/>
            <a:r>
              <a:rPr lang="en-US"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268</TotalTime>
  <Words>1619</Words>
  <Application>Microsoft Office PowerPoint</Application>
  <PresentationFormat>Widescreen</PresentationFormat>
  <Paragraphs>123</Paragraphs>
  <Slides>18</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6" baseType="lpstr">
      <vt:lpstr>Arial</vt:lpstr>
      <vt:lpstr>Calibri</vt:lpstr>
      <vt:lpstr>Times New Roman</vt:lpstr>
      <vt:lpstr>Trebuchet MS</vt:lpstr>
      <vt:lpstr>Wingdings</vt:lpstr>
      <vt:lpstr>Wingdings 3</vt:lpstr>
      <vt:lpstr>Facet</vt:lpstr>
      <vt:lpstr>Bitmap Image</vt:lpstr>
      <vt:lpstr>PowerPoint Presentation</vt:lpstr>
      <vt:lpstr>CONTENT</vt:lpstr>
      <vt:lpstr>ABSTRACT</vt:lpstr>
      <vt:lpstr>INTRODUCTION</vt:lpstr>
      <vt:lpstr>PowerPoint Presentation</vt:lpstr>
      <vt:lpstr>PowerPoint Presentation</vt:lpstr>
      <vt:lpstr>OBJECTIVES</vt:lpstr>
      <vt:lpstr>PROPOSED METHOD</vt:lpstr>
      <vt:lpstr>FLOW CHART :</vt:lpstr>
      <vt:lpstr> RESULT &amp; CONCLUSION</vt:lpstr>
      <vt:lpstr>Comparison of Underwater Image Enhancement Methods </vt:lpstr>
      <vt:lpstr> IMAGES FOR RESULT GENERATION </vt:lpstr>
      <vt:lpstr>Output images </vt:lpstr>
      <vt:lpstr> Advantages </vt:lpstr>
      <vt:lpstr>DISADVANTAGES</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dc:title>
  <dc:creator>EGC</dc:creator>
  <cp:lastModifiedBy>Admin</cp:lastModifiedBy>
  <cp:revision>700</cp:revision>
  <dcterms:created xsi:type="dcterms:W3CDTF">2021-12-17T07:36:00Z</dcterms:created>
  <dcterms:modified xsi:type="dcterms:W3CDTF">2026-03-13T06:11:44Z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8271DA4DBE8A4677BDA84CA38A39D3B9_12</vt:lpwstr>
  </property>
  <property fmtid="{D5CDD505-2E9C-101B-9397-08002B2CF9AE}" pid="3" name="KSOProductBuildVer">
    <vt:lpwstr>1033-12.2.0.20326</vt:lpwstr>
  </property>
</Properties>
</file>